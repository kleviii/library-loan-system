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6"/>
  </p:notesMasterIdLst>
  <p:sldIdLst>
    <p:sldId id="256" r:id="rId2"/>
    <p:sldId id="258" r:id="rId3"/>
    <p:sldId id="261" r:id="rId4"/>
    <p:sldId id="257" r:id="rId5"/>
    <p:sldId id="312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280" r:id="rId14"/>
    <p:sldId id="267" r:id="rId15"/>
  </p:sldIdLst>
  <p:sldSz cx="9144000" cy="5143500" type="screen16x9"/>
  <p:notesSz cx="6858000" cy="9144000"/>
  <p:embeddedFontLst>
    <p:embeddedFont>
      <p:font typeface="Montserrat" pitchFamily="2" charset="-18"/>
      <p:regular r:id="rId17"/>
      <p:bold r:id="rId18"/>
      <p:italic r:id="rId19"/>
      <p:boldItalic r:id="rId20"/>
    </p:embeddedFont>
    <p:embeddedFont>
      <p:font typeface="Montserrat ExtraBold" pitchFamily="2" charset="-18"/>
      <p:bold r:id="rId21"/>
      <p:boldItalic r:id="rId22"/>
    </p:embeddedFont>
    <p:embeddedFont>
      <p:font typeface="Montserrat ExtraLight" pitchFamily="2" charset="-18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AB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D3790E5-EB3E-47F2-AF84-1620D86740D0}">
  <a:tblStyle styleId="{8D3790E5-EB3E-47F2-AF84-1620D86740D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5789" autoAdjust="0"/>
  </p:normalViewPr>
  <p:slideViewPr>
    <p:cSldViewPr snapToGrid="0">
      <p:cViewPr>
        <p:scale>
          <a:sx n="125" d="100"/>
          <a:sy n="125" d="100"/>
        </p:scale>
        <p:origin x="1224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7f9262ee2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7f9262ee2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DD978C93-DE50-7B27-5C33-CC01FBC0E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434A77DF-EBCB-F9E7-FF0C-E75F13ACDB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E2F50859-B69B-AB90-CF00-94CCBD2A2A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8884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607CD4FC-616C-C550-A9D7-DA9A2F854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AE497220-B95F-94F5-B10E-956B180A97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008FF128-0B2A-7314-BF7D-948AF6743E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420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177309E7-60A0-843C-65B7-A62F12323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7f9262ee2f_0_0:notes">
            <a:extLst>
              <a:ext uri="{FF2B5EF4-FFF2-40B4-BE49-F238E27FC236}">
                <a16:creationId xmlns:a16="http://schemas.microsoft.com/office/drawing/2014/main" id="{39410A26-3F43-AF62-C97E-EA99882D67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7f9262ee2f_0_0:notes">
            <a:extLst>
              <a:ext uri="{FF2B5EF4-FFF2-40B4-BE49-F238E27FC236}">
                <a16:creationId xmlns:a16="http://schemas.microsoft.com/office/drawing/2014/main" id="{AEE16991-0160-32AB-3779-304E00A920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11042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41E97813-3A68-C7F5-58FB-047C31842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649806EB-0A12-D1F7-7924-CF95533148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25C7FD28-81C5-945A-76A2-955092D5D5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18327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9BA4C22C-C814-8802-6273-EE7154352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7ADD325E-26A1-90AA-C427-9967D52247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9FACA75D-B30A-B69F-0579-C809493BFD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94897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56EFAC68-9C8B-E6DF-B965-825D8CB44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7BCD5EBF-8FD4-013C-09A9-A37C8E90F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B85B09EA-5669-EE24-EDC7-60BD9C757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0558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4AF7F295-BBC5-B1C0-B85C-0B1E93CDA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AA52B652-D7D1-AED0-4D29-300812C899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7562E412-E002-2220-688F-8FCA4738C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06587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E8F222F4-E55C-7E01-45C0-81CB8E9EC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33B0FE49-3725-6BC8-7705-1CF0F66D98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34828402-F25E-36B1-BD20-D1B74B663A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71047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Google Shape;2086;g7f9262ee2f_0_26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7" name="Google Shape;2087;g7f9262ee2f_0_26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7f9262ee2f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7f9262ee2f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  <a:effectLst>
            <a:outerShdw blurRad="114300" dist="28575" dir="6360000" algn="bl" rotWithShape="0">
              <a:schemeClr val="accen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subTitle" idx="1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body" idx="2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">
  <p:cSld name="CAPTION_ONLY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162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1pPr>
            <a:lvl2pPr marL="914400" lvl="1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2pPr>
            <a:lvl3pPr marL="1371600" lvl="2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3pPr>
            <a:lvl4pPr marL="1828800" lvl="3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4pPr>
            <a:lvl5pPr marL="2286000" lvl="4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5pPr>
            <a:lvl6pPr marL="2743200" lvl="5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6pPr>
            <a:lvl7pPr marL="3200400" lvl="6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7pPr>
            <a:lvl8pPr marL="3657600" lvl="7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8pPr>
            <a:lvl9pPr marL="4114800" lvl="8" indent="-301625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title" idx="6" hasCustomPrompt="1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>
            <a:spLocks noGrp="1"/>
          </p:cNvSpPr>
          <p:nvPr>
            <p:ph type="title" idx="7" hasCustomPrompt="1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ctrTitle"/>
          </p:nvPr>
        </p:nvSpPr>
        <p:spPr>
          <a:xfrm>
            <a:off x="1273500" y="1369000"/>
            <a:ext cx="6597000" cy="21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ubTitle" idx="1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5" r:id="rId4"/>
    <p:sldLayoutId id="2147483658" r:id="rId5"/>
    <p:sldLayoutId id="2147483659" r:id="rId6"/>
    <p:sldLayoutId id="2147483660" r:id="rId7"/>
    <p:sldLayoutId id="2147483665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1511837" y="1378948"/>
            <a:ext cx="6120323" cy="1215826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cap="all" dirty="0"/>
              <a:t>Szoftverfejlesztés-és tesztelés</a:t>
            </a:r>
            <a:endParaRPr cap="all" dirty="0"/>
          </a:p>
        </p:txBody>
      </p:sp>
      <p:sp>
        <p:nvSpPr>
          <p:cNvPr id="163" name="Google Shape;163;p38"/>
          <p:cNvSpPr txBox="1">
            <a:spLocks noGrp="1"/>
          </p:cNvSpPr>
          <p:nvPr>
            <p:ph type="subTitle" idx="1"/>
          </p:nvPr>
        </p:nvSpPr>
        <p:spPr>
          <a:xfrm>
            <a:off x="3568403" y="3604532"/>
            <a:ext cx="2007193" cy="10559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Káldor Levente, Lőrincz Márton, Juhász Arnold, Csikós Bendegúz</a:t>
            </a: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2941650" y="2624375"/>
            <a:ext cx="3260700" cy="464700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2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Projekt Bemutató</a:t>
            </a:r>
            <a:endParaRPr sz="22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>
            <a:spLocks noGrp="1"/>
          </p:cNvSpPr>
          <p:nvPr>
            <p:ph type="title" idx="6"/>
          </p:nvPr>
        </p:nvSpPr>
        <p:spPr>
          <a:xfrm>
            <a:off x="2096947" y="1571597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79" name="Google Shape;179;p40"/>
          <p:cNvSpPr txBox="1">
            <a:spLocks noGrp="1"/>
          </p:cNvSpPr>
          <p:nvPr>
            <p:ph type="title"/>
          </p:nvPr>
        </p:nvSpPr>
        <p:spPr>
          <a:xfrm>
            <a:off x="4794814" y="2416472"/>
            <a:ext cx="2301649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TESZTELÉS</a:t>
            </a:r>
            <a:endParaRPr dirty="0"/>
          </a:p>
        </p:txBody>
      </p:sp>
      <p:sp>
        <p:nvSpPr>
          <p:cNvPr id="180" name="Google Shape;180;p40"/>
          <p:cNvSpPr txBox="1">
            <a:spLocks noGrp="1"/>
          </p:cNvSpPr>
          <p:nvPr>
            <p:ph type="subTitle" idx="1"/>
          </p:nvPr>
        </p:nvSpPr>
        <p:spPr>
          <a:xfrm>
            <a:off x="4621410" y="2948972"/>
            <a:ext cx="2648455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általunk végzett szoftvertesztelés: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Parkolóautomata </a:t>
            </a:r>
          </a:p>
        </p:txBody>
      </p:sp>
      <p:sp>
        <p:nvSpPr>
          <p:cNvPr id="183" name="Google Shape;183;p40"/>
          <p:cNvSpPr txBox="1">
            <a:spLocks noGrp="1"/>
          </p:cNvSpPr>
          <p:nvPr>
            <p:ph type="title" idx="4"/>
          </p:nvPr>
        </p:nvSpPr>
        <p:spPr>
          <a:xfrm>
            <a:off x="2096944" y="2416472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FEJLESZTÉS</a:t>
            </a:r>
            <a:endParaRPr dirty="0"/>
          </a:p>
        </p:txBody>
      </p:sp>
      <p:sp>
        <p:nvSpPr>
          <p:cNvPr id="184" name="Google Shape;184;p40"/>
          <p:cNvSpPr txBox="1">
            <a:spLocks noGrp="1"/>
          </p:cNvSpPr>
          <p:nvPr>
            <p:ph type="subTitle" idx="5"/>
          </p:nvPr>
        </p:nvSpPr>
        <p:spPr>
          <a:xfrm>
            <a:off x="1664312" y="2948267"/>
            <a:ext cx="2932263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fejlesztésünk</a:t>
            </a:r>
            <a:r>
              <a:rPr lang="hu-HU" dirty="0"/>
              <a:t> bemutatása: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Könyvtári Rendszer</a:t>
            </a:r>
            <a:endParaRPr dirty="0"/>
          </a:p>
        </p:txBody>
      </p:sp>
      <p:sp>
        <p:nvSpPr>
          <p:cNvPr id="185" name="Google Shape;185;p40"/>
          <p:cNvSpPr txBox="1">
            <a:spLocks noGrp="1"/>
          </p:cNvSpPr>
          <p:nvPr>
            <p:ph type="title" idx="7"/>
          </p:nvPr>
        </p:nvSpPr>
        <p:spPr>
          <a:xfrm>
            <a:off x="4912139" y="1571597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187" name="Google Shape;187;p40"/>
          <p:cNvCxnSpPr/>
          <p:nvPr/>
        </p:nvCxnSpPr>
        <p:spPr>
          <a:xfrm>
            <a:off x="2931847" y="2347057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/>
          <p:nvPr/>
        </p:nvCxnSpPr>
        <p:spPr>
          <a:xfrm>
            <a:off x="5747039" y="2347057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8" name="Google Shape;221;p45">
            <a:extLst>
              <a:ext uri="{FF2B5EF4-FFF2-40B4-BE49-F238E27FC236}">
                <a16:creationId xmlns:a16="http://schemas.microsoft.com/office/drawing/2014/main" id="{62CEDA1A-089A-E06D-0613-B11761F21B47}"/>
              </a:ext>
            </a:extLst>
          </p:cNvPr>
          <p:cNvSpPr txBox="1">
            <a:spLocks/>
          </p:cNvSpPr>
          <p:nvPr/>
        </p:nvSpPr>
        <p:spPr>
          <a:xfrm>
            <a:off x="2232772" y="834647"/>
            <a:ext cx="4629300" cy="9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hu-HU" sz="2400" dirty="0">
                <a:solidFill>
                  <a:schemeClr val="accent1"/>
                </a:solidFill>
              </a:rPr>
              <a:t>AGENDA</a:t>
            </a:r>
          </a:p>
        </p:txBody>
      </p:sp>
      <p:cxnSp>
        <p:nvCxnSpPr>
          <p:cNvPr id="9" name="Google Shape;222;p45">
            <a:extLst>
              <a:ext uri="{FF2B5EF4-FFF2-40B4-BE49-F238E27FC236}">
                <a16:creationId xmlns:a16="http://schemas.microsoft.com/office/drawing/2014/main" id="{7506A4A8-1F4D-4ADF-B6DF-3A9C7E92C087}"/>
              </a:ext>
            </a:extLst>
          </p:cNvPr>
          <p:cNvCxnSpPr/>
          <p:nvPr/>
        </p:nvCxnSpPr>
        <p:spPr>
          <a:xfrm>
            <a:off x="3165922" y="1424440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" name="Google Shape;2117;p64">
            <a:extLst>
              <a:ext uri="{FF2B5EF4-FFF2-40B4-BE49-F238E27FC236}">
                <a16:creationId xmlns:a16="http://schemas.microsoft.com/office/drawing/2014/main" id="{26D9CA5A-825C-88C6-7C38-EDA9184AF0DF}"/>
              </a:ext>
            </a:extLst>
          </p:cNvPr>
          <p:cNvGrpSpPr/>
          <p:nvPr/>
        </p:nvGrpSpPr>
        <p:grpSpPr>
          <a:xfrm>
            <a:off x="3123132" y="-2923461"/>
            <a:ext cx="2897735" cy="2027936"/>
            <a:chOff x="238125" y="1973675"/>
            <a:chExt cx="2558775" cy="1951825"/>
          </a:xfrm>
        </p:grpSpPr>
        <p:sp>
          <p:nvSpPr>
            <p:cNvPr id="3" name="Google Shape;2118;p64">
              <a:extLst>
                <a:ext uri="{FF2B5EF4-FFF2-40B4-BE49-F238E27FC236}">
                  <a16:creationId xmlns:a16="http://schemas.microsoft.com/office/drawing/2014/main" id="{8E03E08B-DB1A-9A13-25EA-1E182CBB10D0}"/>
                </a:ext>
              </a:extLst>
            </p:cNvPr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119;p64">
              <a:extLst>
                <a:ext uri="{FF2B5EF4-FFF2-40B4-BE49-F238E27FC236}">
                  <a16:creationId xmlns:a16="http://schemas.microsoft.com/office/drawing/2014/main" id="{AD28BA17-CAA7-D923-69E3-499C83724DDB}"/>
                </a:ext>
              </a:extLst>
            </p:cNvPr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120;p64">
              <a:extLst>
                <a:ext uri="{FF2B5EF4-FFF2-40B4-BE49-F238E27FC236}">
                  <a16:creationId xmlns:a16="http://schemas.microsoft.com/office/drawing/2014/main" id="{B23BFE4A-C12C-0DBB-C792-B10A61A2B37D}"/>
                </a:ext>
              </a:extLst>
            </p:cNvPr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121;p64">
              <a:extLst>
                <a:ext uri="{FF2B5EF4-FFF2-40B4-BE49-F238E27FC236}">
                  <a16:creationId xmlns:a16="http://schemas.microsoft.com/office/drawing/2014/main" id="{706416A2-2A5D-8254-61BC-9BC83AD8FF54}"/>
                </a:ext>
              </a:extLst>
            </p:cNvPr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122;p64">
              <a:extLst>
                <a:ext uri="{FF2B5EF4-FFF2-40B4-BE49-F238E27FC236}">
                  <a16:creationId xmlns:a16="http://schemas.microsoft.com/office/drawing/2014/main" id="{4821A454-52E2-D3EA-9228-90127F69D3EF}"/>
                </a:ext>
              </a:extLst>
            </p:cNvPr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123;p64">
              <a:extLst>
                <a:ext uri="{FF2B5EF4-FFF2-40B4-BE49-F238E27FC236}">
                  <a16:creationId xmlns:a16="http://schemas.microsoft.com/office/drawing/2014/main" id="{70180B16-9FDC-3912-F9EC-EA315C4028D3}"/>
                </a:ext>
              </a:extLst>
            </p:cNvPr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" name="Kép 10" descr="A képen szöveg, képernyőkép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78F26D6-B081-330A-8D4D-67D66A77D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283" y="-2825395"/>
            <a:ext cx="2663677" cy="1476789"/>
          </a:xfrm>
          <a:prstGeom prst="rect">
            <a:avLst/>
          </a:prstGeom>
        </p:spPr>
      </p:pic>
      <p:sp>
        <p:nvSpPr>
          <p:cNvPr id="14" name="Google Shape;207;p43">
            <a:extLst>
              <a:ext uri="{FF2B5EF4-FFF2-40B4-BE49-F238E27FC236}">
                <a16:creationId xmlns:a16="http://schemas.microsoft.com/office/drawing/2014/main" id="{80191F99-9331-6427-CED0-9E767FC8B1E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-2944735" y="377655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5" name="Google Shape;206;p43">
            <a:extLst>
              <a:ext uri="{FF2B5EF4-FFF2-40B4-BE49-F238E27FC236}">
                <a16:creationId xmlns:a16="http://schemas.microsoft.com/office/drawing/2014/main" id="{64E04C81-B255-BE88-6988-1E0B575BF417}"/>
              </a:ext>
            </a:extLst>
          </p:cNvPr>
          <p:cNvSpPr txBox="1">
            <a:spLocks/>
          </p:cNvSpPr>
          <p:nvPr/>
        </p:nvSpPr>
        <p:spPr>
          <a:xfrm>
            <a:off x="9929181" y="3177750"/>
            <a:ext cx="3220615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hu-HU"/>
              <a:t>FEJLESZTÉS</a:t>
            </a:r>
            <a:endParaRPr lang="hu-HU" dirty="0"/>
          </a:p>
        </p:txBody>
      </p:sp>
      <p:sp>
        <p:nvSpPr>
          <p:cNvPr id="16" name="Google Shape;208;p43">
            <a:extLst>
              <a:ext uri="{FF2B5EF4-FFF2-40B4-BE49-F238E27FC236}">
                <a16:creationId xmlns:a16="http://schemas.microsoft.com/office/drawing/2014/main" id="{AC4A8635-B0FA-A016-4E69-B280F31A6DFA}"/>
              </a:ext>
            </a:extLst>
          </p:cNvPr>
          <p:cNvSpPr txBox="1">
            <a:spLocks/>
          </p:cNvSpPr>
          <p:nvPr/>
        </p:nvSpPr>
        <p:spPr>
          <a:xfrm>
            <a:off x="9929182" y="3720650"/>
            <a:ext cx="3068700" cy="4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hu-HU" dirty="0"/>
              <a:t>Kis könyvtárak automatizálása, papírmentesítés.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3"/>
          <p:cNvSpPr txBox="1">
            <a:spLocks noGrp="1"/>
          </p:cNvSpPr>
          <p:nvPr>
            <p:ph type="title"/>
          </p:nvPr>
        </p:nvSpPr>
        <p:spPr>
          <a:xfrm>
            <a:off x="3762669" y="3177750"/>
            <a:ext cx="3220615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FEJLESZTÉS</a:t>
            </a:r>
            <a:endParaRPr dirty="0"/>
          </a:p>
        </p:txBody>
      </p:sp>
      <p:sp>
        <p:nvSpPr>
          <p:cNvPr id="207" name="Google Shape;207;p43"/>
          <p:cNvSpPr txBox="1">
            <a:spLocks noGrp="1"/>
          </p:cNvSpPr>
          <p:nvPr>
            <p:ph type="title" idx="2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08" name="Google Shape;208;p4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hu-HU" dirty="0"/>
              <a:t>Kis könyvtárak automatizálása, papírmentesítés.</a:t>
            </a:r>
            <a:endParaRPr dirty="0"/>
          </a:p>
        </p:txBody>
      </p:sp>
      <p:cxnSp>
        <p:nvCxnSpPr>
          <p:cNvPr id="209" name="Google Shape;209;p43"/>
          <p:cNvCxnSpPr/>
          <p:nvPr/>
        </p:nvCxnSpPr>
        <p:spPr>
          <a:xfrm>
            <a:off x="3610750" y="3253297"/>
            <a:ext cx="0" cy="999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" name="Google Shape;2117;p64">
            <a:extLst>
              <a:ext uri="{FF2B5EF4-FFF2-40B4-BE49-F238E27FC236}">
                <a16:creationId xmlns:a16="http://schemas.microsoft.com/office/drawing/2014/main" id="{B898562E-82A7-BDE1-F075-CF96033C0764}"/>
              </a:ext>
            </a:extLst>
          </p:cNvPr>
          <p:cNvGrpSpPr/>
          <p:nvPr/>
        </p:nvGrpSpPr>
        <p:grpSpPr>
          <a:xfrm>
            <a:off x="3123132" y="660400"/>
            <a:ext cx="2897735" cy="2027936"/>
            <a:chOff x="238125" y="1973675"/>
            <a:chExt cx="2558775" cy="1951825"/>
          </a:xfrm>
        </p:grpSpPr>
        <p:sp>
          <p:nvSpPr>
            <p:cNvPr id="3" name="Google Shape;2118;p64">
              <a:extLst>
                <a:ext uri="{FF2B5EF4-FFF2-40B4-BE49-F238E27FC236}">
                  <a16:creationId xmlns:a16="http://schemas.microsoft.com/office/drawing/2014/main" id="{2D3A211D-F30F-3048-88DB-E6F289398BD7}"/>
                </a:ext>
              </a:extLst>
            </p:cNvPr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119;p64">
              <a:extLst>
                <a:ext uri="{FF2B5EF4-FFF2-40B4-BE49-F238E27FC236}">
                  <a16:creationId xmlns:a16="http://schemas.microsoft.com/office/drawing/2014/main" id="{CCE30D40-603D-D075-A719-7B139076660D}"/>
                </a:ext>
              </a:extLst>
            </p:cNvPr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120;p64">
              <a:extLst>
                <a:ext uri="{FF2B5EF4-FFF2-40B4-BE49-F238E27FC236}">
                  <a16:creationId xmlns:a16="http://schemas.microsoft.com/office/drawing/2014/main" id="{D49DBF82-2423-22FD-5C49-15A21846938D}"/>
                </a:ext>
              </a:extLst>
            </p:cNvPr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121;p64">
              <a:extLst>
                <a:ext uri="{FF2B5EF4-FFF2-40B4-BE49-F238E27FC236}">
                  <a16:creationId xmlns:a16="http://schemas.microsoft.com/office/drawing/2014/main" id="{25F4DE02-EF3A-8CAC-5D1F-082B20CAD7B9}"/>
                </a:ext>
              </a:extLst>
            </p:cNvPr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122;p64">
              <a:extLst>
                <a:ext uri="{FF2B5EF4-FFF2-40B4-BE49-F238E27FC236}">
                  <a16:creationId xmlns:a16="http://schemas.microsoft.com/office/drawing/2014/main" id="{19E534EF-2ACE-5591-AC2D-937C79950783}"/>
                </a:ext>
              </a:extLst>
            </p:cNvPr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123;p64">
              <a:extLst>
                <a:ext uri="{FF2B5EF4-FFF2-40B4-BE49-F238E27FC236}">
                  <a16:creationId xmlns:a16="http://schemas.microsoft.com/office/drawing/2014/main" id="{A0F914BB-644F-4967-C9F6-12FB65CC2C9F}"/>
                </a:ext>
              </a:extLst>
            </p:cNvPr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" name="Kép 10" descr="A képen szöveg, képernyőkép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3832429-A2D5-3742-7EAB-C3C19F192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283" y="758466"/>
            <a:ext cx="2663677" cy="1476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CÉLUNK</a:t>
            </a:r>
            <a:endParaRPr dirty="0"/>
          </a:p>
        </p:txBody>
      </p:sp>
      <p:sp>
        <p:nvSpPr>
          <p:cNvPr id="171" name="Google Shape;171;p39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dirty="0"/>
              <a:t>A kapott feladatunk tételmondata: </a:t>
            </a:r>
            <a:r>
              <a:rPr lang="hu-HU" sz="1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„Szimuláljon egy könyvtári rendszert!”</a:t>
            </a:r>
          </a:p>
          <a:p>
            <a:pPr marL="0" lvl="0" indent="0">
              <a:buNone/>
            </a:pPr>
            <a:endParaRPr lang="hu-HU" sz="1200" dirty="0"/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Eszközölt technológiák: </a:t>
            </a:r>
            <a:r>
              <a:rPr lang="hu-HU" sz="1200" b="1" dirty="0"/>
              <a:t>Java</a:t>
            </a:r>
            <a:r>
              <a:rPr lang="hu-HU" sz="1200" dirty="0"/>
              <a:t> (JDK 21+), </a:t>
            </a:r>
            <a:r>
              <a:rPr lang="hu-HU" sz="1200" b="1" dirty="0"/>
              <a:t>Konzolos felület </a:t>
            </a:r>
            <a:r>
              <a:rPr lang="hu-HU" sz="1200" dirty="0"/>
              <a:t>(CLI), Fájl </a:t>
            </a:r>
            <a:r>
              <a:rPr lang="hu-HU" sz="1200" b="1" dirty="0"/>
              <a:t>CRUD</a:t>
            </a:r>
            <a:r>
              <a:rPr lang="hu-HU" sz="1200" dirty="0"/>
              <a:t> műveletek, AI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Fejlesztési modell: </a:t>
            </a:r>
            <a:r>
              <a:rPr lang="hu-HU" sz="1200" b="1" dirty="0"/>
              <a:t>Evolúciós fejlesztés</a:t>
            </a:r>
          </a:p>
          <a:p>
            <a:pPr marL="0" lvl="0" indent="0">
              <a:spcAft>
                <a:spcPts val="600"/>
              </a:spcAft>
              <a:buNone/>
            </a:pPr>
            <a:r>
              <a:rPr lang="hu-HU" sz="1200" b="1" dirty="0"/>
              <a:t>Fő funkciók:</a:t>
            </a:r>
            <a:endParaRPr lang="hu-HU" sz="1200" dirty="0"/>
          </a:p>
          <a:p>
            <a:r>
              <a:rPr lang="hu-HU" sz="1200" dirty="0"/>
              <a:t>Tagok és könyvek nyilvántartása.</a:t>
            </a:r>
          </a:p>
          <a:p>
            <a:r>
              <a:rPr lang="hu-HU" sz="1200" dirty="0"/>
              <a:t>Könyv kölcsönzés (</a:t>
            </a:r>
            <a:r>
              <a:rPr lang="hu-HU" sz="1200" dirty="0" err="1"/>
              <a:t>max</a:t>
            </a:r>
            <a:r>
              <a:rPr lang="hu-HU" sz="1200" dirty="0"/>
              <a:t> 3 db) és visszavétel.</a:t>
            </a:r>
          </a:p>
          <a:p>
            <a:r>
              <a:rPr lang="hu-HU" sz="1200" dirty="0"/>
              <a:t>Automatikus késedelmi díj számítás (50 Ft/nap).</a:t>
            </a:r>
          </a:p>
          <a:p>
            <a:r>
              <a:rPr lang="hu-HU" sz="1200" dirty="0"/>
              <a:t>Automatikus statisztika készítés</a:t>
            </a:r>
          </a:p>
          <a:p>
            <a:r>
              <a:rPr lang="hu-HU" sz="1200" dirty="0"/>
              <a:t>Navigálható menürendszer</a:t>
            </a:r>
          </a:p>
          <a:p>
            <a:pPr marL="155575" indent="0">
              <a:buNone/>
            </a:pPr>
            <a:r>
              <a:rPr lang="hu-HU" sz="1200" b="1" dirty="0"/>
              <a:t>AI használat:</a:t>
            </a:r>
          </a:p>
          <a:p>
            <a:pPr marL="155575" indent="0">
              <a:buNone/>
            </a:pPr>
            <a:r>
              <a:rPr lang="hu-HU" sz="1200" dirty="0"/>
              <a:t>	Törekedtünk az okos és ésszerű eszközölésére</a:t>
            </a:r>
          </a:p>
          <a:p>
            <a:pPr marL="155575" indent="0">
              <a:buNone/>
            </a:pPr>
            <a:r>
              <a:rPr lang="hu-HU" sz="1200" dirty="0"/>
              <a:t>	Gondosan kidolgozott </a:t>
            </a:r>
            <a:r>
              <a:rPr lang="hu-HU" sz="1200" dirty="0" err="1"/>
              <a:t>promptokkal</a:t>
            </a:r>
            <a:r>
              <a:rPr lang="hu-HU" sz="1200" dirty="0"/>
              <a:t> dolgoztunk</a:t>
            </a:r>
          </a:p>
          <a:p>
            <a:pPr marL="0" lvl="0" indent="0">
              <a:spcAft>
                <a:spcPts val="600"/>
              </a:spcAft>
              <a:buNone/>
            </a:pPr>
            <a:r>
              <a:rPr lang="hu-HU" sz="1200" b="1" dirty="0"/>
              <a:t>Időbeosztás</a:t>
            </a:r>
            <a:r>
              <a:rPr lang="hu-HU" sz="1200" dirty="0"/>
              <a:t>: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Minőség előnyben részesítése, ezért voltak kisebb csúszások</a:t>
            </a:r>
          </a:p>
          <a:p>
            <a:pPr marL="0" lvl="0" indent="0">
              <a:spcAft>
                <a:spcPts val="1600"/>
              </a:spcAft>
              <a:buNone/>
            </a:pPr>
            <a:endParaRPr lang="hu-HU" sz="1200" dirty="0"/>
          </a:p>
          <a:p>
            <a:pPr marL="0" lvl="0" indent="0">
              <a:spcAft>
                <a:spcPts val="1600"/>
              </a:spcAft>
              <a:buNone/>
            </a:pPr>
            <a:endParaRPr sz="1200" dirty="0"/>
          </a:p>
        </p:txBody>
      </p:sp>
      <p:cxnSp>
        <p:nvCxnSpPr>
          <p:cNvPr id="172" name="Google Shape;172;p3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050" name="Picture 2">
            <a:extLst>
              <a:ext uri="{FF2B5EF4-FFF2-40B4-BE49-F238E27FC236}">
                <a16:creationId xmlns:a16="http://schemas.microsoft.com/office/drawing/2014/main" id="{76952F37-EDB8-5D52-A580-5AD4E7347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9350" y="6076351"/>
            <a:ext cx="464973" cy="464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4">
            <a:extLst>
              <a:ext uri="{FF2B5EF4-FFF2-40B4-BE49-F238E27FC236}">
                <a16:creationId xmlns:a16="http://schemas.microsoft.com/office/drawing/2014/main" id="{40F4D9EE-5D8F-DFFD-967B-CAFC83492C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302E645-4D73-558C-BD6C-A28A5F4CFD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9682" y="6076351"/>
            <a:ext cx="464973" cy="464973"/>
          </a:xfrm>
          <a:prstGeom prst="rect">
            <a:avLst/>
          </a:prstGeom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4CCC43EF-6180-E3A7-58E9-76E0B4F52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014" y="6076352"/>
            <a:ext cx="464973" cy="46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34D450B8-5503-6CE8-132A-63915C675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8222" y="2287122"/>
            <a:ext cx="754626" cy="754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171;p39">
            <a:extLst>
              <a:ext uri="{FF2B5EF4-FFF2-40B4-BE49-F238E27FC236}">
                <a16:creationId xmlns:a16="http://schemas.microsoft.com/office/drawing/2014/main" id="{32832B2F-EAFB-4573-80D3-5E4A9EF8BA7B}"/>
              </a:ext>
            </a:extLst>
          </p:cNvPr>
          <p:cNvSpPr txBox="1">
            <a:spLocks/>
          </p:cNvSpPr>
          <p:nvPr/>
        </p:nvSpPr>
        <p:spPr>
          <a:xfrm>
            <a:off x="12516605" y="2045285"/>
            <a:ext cx="1973333" cy="1543735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1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●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○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■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●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○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■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●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○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01625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Font typeface="Montserrat"/>
              <a:buChar char="■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1600"/>
              </a:spcAft>
              <a:buFont typeface="Montserrat"/>
              <a:buNone/>
            </a:pPr>
            <a:r>
              <a:rPr lang="hu-HU" sz="1100" b="1" dirty="0"/>
              <a:t>+ 2 Funkció:</a:t>
            </a:r>
          </a:p>
          <a:p>
            <a:pPr marL="171450" indent="-171450">
              <a:spcAft>
                <a:spcPts val="1600"/>
              </a:spcAft>
            </a:pPr>
            <a:r>
              <a:rPr lang="hu-HU" sz="1100" b="1" dirty="0"/>
              <a:t>Könyvek keresése (ID, Író, Műfaj)</a:t>
            </a:r>
          </a:p>
          <a:p>
            <a:pPr marL="171450" indent="-171450">
              <a:spcAft>
                <a:spcPts val="1600"/>
              </a:spcAft>
            </a:pPr>
            <a:r>
              <a:rPr lang="hu-HU" sz="1100" b="1" dirty="0"/>
              <a:t>Könyvek listázása </a:t>
            </a:r>
            <a:r>
              <a:rPr lang="hu-HU" sz="1100" b="1" dirty="0" err="1"/>
              <a:t>kategóriánként</a:t>
            </a:r>
            <a:endParaRPr lang="hu-HU" sz="1100" b="1" dirty="0"/>
          </a:p>
          <a:p>
            <a:pPr marL="171450" indent="-171450">
              <a:spcAft>
                <a:spcPts val="1600"/>
              </a:spcAft>
            </a:pPr>
            <a:endParaRPr lang="hu-HU" sz="11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500">
        <p:fade/>
      </p:transition>
    </mc:Choice>
    <mc:Fallback xmlns="">
      <p:transition spd="med" advClick="0" advTm="5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7EE1AE0D-DD00-6868-31FE-C23E65C4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50B1B9E0-29A4-D288-4B95-64E227D8E8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CÉLUNK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A3BFA4DA-069F-86F9-3956-07CA9DD5DA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dirty="0"/>
              <a:t>A kapott feladatunk tételmondata: </a:t>
            </a:r>
            <a:r>
              <a:rPr lang="hu-HU" sz="1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„Szimuláljon egy könyvtári rendszert!”</a:t>
            </a:r>
            <a:endParaRPr sz="12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Eszközölt technológiák: </a:t>
            </a:r>
            <a:r>
              <a:rPr lang="hu-HU" sz="1200" b="1" dirty="0"/>
              <a:t>Java</a:t>
            </a:r>
            <a:r>
              <a:rPr lang="hu-HU" sz="1200" dirty="0"/>
              <a:t> (JDK 21+), </a:t>
            </a:r>
            <a:r>
              <a:rPr lang="hu-HU" sz="1200" b="1" dirty="0"/>
              <a:t>Konzolos felület </a:t>
            </a:r>
            <a:r>
              <a:rPr lang="hu-HU" sz="1200" dirty="0"/>
              <a:t>(CLI), Fájl </a:t>
            </a:r>
            <a:r>
              <a:rPr lang="hu-HU" sz="1200" b="1" dirty="0"/>
              <a:t>CRUD</a:t>
            </a:r>
            <a:r>
              <a:rPr lang="hu-HU" sz="1200" dirty="0"/>
              <a:t> műveletek, AI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Fejlesztési modell: </a:t>
            </a:r>
            <a:r>
              <a:rPr lang="hu-HU" sz="1200" b="1" dirty="0"/>
              <a:t>Evolúciós fejlesztés</a:t>
            </a:r>
          </a:p>
          <a:p>
            <a:pPr marL="0" lvl="0" indent="0">
              <a:spcAft>
                <a:spcPts val="600"/>
              </a:spcAft>
              <a:buNone/>
            </a:pPr>
            <a:r>
              <a:rPr lang="hu-HU" sz="1200" b="1" dirty="0"/>
              <a:t>Fő funkciók:</a:t>
            </a:r>
            <a:endParaRPr lang="hu-HU" sz="1200" dirty="0"/>
          </a:p>
          <a:p>
            <a:r>
              <a:rPr lang="hu-HU" sz="1200" dirty="0"/>
              <a:t>Tagok és könyvek nyilvántartása.</a:t>
            </a:r>
          </a:p>
          <a:p>
            <a:r>
              <a:rPr lang="hu-HU" sz="1200" dirty="0"/>
              <a:t>Könyv kölcsönzés (</a:t>
            </a:r>
            <a:r>
              <a:rPr lang="hu-HU" sz="1200" dirty="0" err="1"/>
              <a:t>max</a:t>
            </a:r>
            <a:r>
              <a:rPr lang="hu-HU" sz="1200" dirty="0"/>
              <a:t> 3 db) és visszavétel.</a:t>
            </a:r>
          </a:p>
          <a:p>
            <a:r>
              <a:rPr lang="hu-HU" sz="1200" dirty="0"/>
              <a:t>Automatikus késedelmi díj számítás (50 Ft/nap).</a:t>
            </a:r>
          </a:p>
          <a:p>
            <a:r>
              <a:rPr lang="hu-HU" sz="1200" dirty="0"/>
              <a:t>Automatikus statisztika készítés</a:t>
            </a:r>
          </a:p>
          <a:p>
            <a:r>
              <a:rPr lang="hu-HU" sz="1200" dirty="0"/>
              <a:t>Navigálható menürendszer</a:t>
            </a:r>
          </a:p>
          <a:p>
            <a:pPr marL="155575" indent="0">
              <a:buNone/>
            </a:pPr>
            <a:r>
              <a:rPr lang="hu-HU" sz="1200" b="1" dirty="0"/>
              <a:t>AI használat:</a:t>
            </a:r>
          </a:p>
          <a:p>
            <a:pPr marL="155575" indent="0">
              <a:buNone/>
            </a:pPr>
            <a:r>
              <a:rPr lang="hu-HU" sz="1200" dirty="0"/>
              <a:t>	Törekedtünk az okos és ésszerű eszközölésére</a:t>
            </a:r>
          </a:p>
          <a:p>
            <a:pPr marL="155575" indent="0">
              <a:buNone/>
            </a:pPr>
            <a:r>
              <a:rPr lang="hu-HU" sz="1200" dirty="0"/>
              <a:t>	Gondosan kidolgozott </a:t>
            </a:r>
            <a:r>
              <a:rPr lang="hu-HU" sz="1200" dirty="0" err="1"/>
              <a:t>promptokkal</a:t>
            </a:r>
            <a:r>
              <a:rPr lang="hu-HU" sz="1200" dirty="0"/>
              <a:t> dolgoztunk</a:t>
            </a:r>
          </a:p>
          <a:p>
            <a:pPr marL="0" lvl="0" indent="0">
              <a:spcAft>
                <a:spcPts val="600"/>
              </a:spcAft>
              <a:buNone/>
            </a:pPr>
            <a:r>
              <a:rPr lang="hu-HU" sz="1200" b="1" dirty="0"/>
              <a:t>Időbeosztás</a:t>
            </a:r>
            <a:r>
              <a:rPr lang="hu-HU" sz="1200" dirty="0"/>
              <a:t>: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Minőség előnyben részesítése, ezért voltak kisebb csúszások</a:t>
            </a:r>
          </a:p>
          <a:p>
            <a:pPr marL="0" lvl="0" indent="0">
              <a:spcAft>
                <a:spcPts val="1600"/>
              </a:spcAft>
              <a:buNone/>
            </a:pPr>
            <a:endParaRPr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758E0E1C-BDF7-6EA4-7F8E-09173FA5C9EC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050" name="Picture 2">
            <a:extLst>
              <a:ext uri="{FF2B5EF4-FFF2-40B4-BE49-F238E27FC236}">
                <a16:creationId xmlns:a16="http://schemas.microsoft.com/office/drawing/2014/main" id="{3011B5C0-7FD9-FA37-DB2E-276879248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9350" y="5260272"/>
            <a:ext cx="464973" cy="464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4">
            <a:extLst>
              <a:ext uri="{FF2B5EF4-FFF2-40B4-BE49-F238E27FC236}">
                <a16:creationId xmlns:a16="http://schemas.microsoft.com/office/drawing/2014/main" id="{498B97DB-58FF-8907-9753-152CD64BE7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BE0D090-F19B-19CD-0EC8-02644F191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9682" y="5260272"/>
            <a:ext cx="464973" cy="464973"/>
          </a:xfrm>
          <a:prstGeom prst="rect">
            <a:avLst/>
          </a:prstGeom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D1E51DAE-BA62-CEFD-3EEE-29D9C39C24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014" y="5260273"/>
            <a:ext cx="464973" cy="46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34B7742-9941-8335-B524-B409F8DDB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037" y="2287122"/>
            <a:ext cx="754626" cy="754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Kép 2" descr="A képen szöveg, képernyőkép, Betűtípus, algebr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6A45303-5536-3474-5A0B-6E6454C65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933" y="1644232"/>
            <a:ext cx="3054652" cy="1249630"/>
          </a:xfrm>
          <a:prstGeom prst="rect">
            <a:avLst/>
          </a:prstGeom>
        </p:spPr>
      </p:pic>
      <p:pic>
        <p:nvPicPr>
          <p:cNvPr id="5" name="Kép 4" descr="A képen szöveg, képernyőkép, Betűtípus, algebr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9D0B0EA-481B-7762-2F2C-B56BB24C5E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42233" y="3027316"/>
            <a:ext cx="2296352" cy="1740317"/>
          </a:xfrm>
          <a:prstGeom prst="rect">
            <a:avLst/>
          </a:prstGeom>
        </p:spPr>
      </p:pic>
      <p:sp>
        <p:nvSpPr>
          <p:cNvPr id="13" name="Google Shape;171;p39">
            <a:extLst>
              <a:ext uri="{FF2B5EF4-FFF2-40B4-BE49-F238E27FC236}">
                <a16:creationId xmlns:a16="http://schemas.microsoft.com/office/drawing/2014/main" id="{3A0B85E8-9D45-4E16-AD9A-14A1D42E71F6}"/>
              </a:ext>
            </a:extLst>
          </p:cNvPr>
          <p:cNvSpPr txBox="1">
            <a:spLocks/>
          </p:cNvSpPr>
          <p:nvPr/>
        </p:nvSpPr>
        <p:spPr>
          <a:xfrm>
            <a:off x="6451085" y="2045285"/>
            <a:ext cx="1973333" cy="1543735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1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●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○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■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●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○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■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●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01625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Montserrat"/>
              <a:buChar char="○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01625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Font typeface="Montserrat"/>
              <a:buChar char="■"/>
              <a:defRPr sz="11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1600"/>
              </a:spcAft>
              <a:buFont typeface="Montserrat"/>
              <a:buNone/>
            </a:pPr>
            <a:r>
              <a:rPr lang="hu-HU" sz="1100" b="1" dirty="0"/>
              <a:t>+ 2 Funkció:</a:t>
            </a:r>
          </a:p>
          <a:p>
            <a:pPr marL="171450" indent="-171450">
              <a:spcAft>
                <a:spcPts val="1600"/>
              </a:spcAft>
            </a:pPr>
            <a:r>
              <a:rPr lang="hu-HU" sz="1100" b="1" dirty="0"/>
              <a:t>Könyvek keresése (ID, Író, Műfaj)</a:t>
            </a:r>
          </a:p>
          <a:p>
            <a:pPr marL="171450" indent="-171450">
              <a:spcAft>
                <a:spcPts val="1600"/>
              </a:spcAft>
            </a:pPr>
            <a:r>
              <a:rPr lang="hu-HU" sz="1100" b="1" dirty="0"/>
              <a:t>Könyvek listázása </a:t>
            </a:r>
            <a:r>
              <a:rPr lang="hu-HU" sz="1100" b="1" dirty="0" err="1"/>
              <a:t>kategóriánként</a:t>
            </a:r>
            <a:endParaRPr lang="hu-HU" sz="1100" b="1" dirty="0"/>
          </a:p>
          <a:p>
            <a:pPr marL="171450" indent="-171450">
              <a:spcAft>
                <a:spcPts val="1600"/>
              </a:spcAft>
            </a:pPr>
            <a:endParaRPr lang="hu-HU" sz="1100" b="1" dirty="0"/>
          </a:p>
        </p:txBody>
      </p:sp>
    </p:spTree>
    <p:extLst>
      <p:ext uri="{BB962C8B-B14F-4D97-AF65-F5344CB8AC3E}">
        <p14:creationId xmlns:p14="http://schemas.microsoft.com/office/powerpoint/2010/main" val="662171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-1.23457E-6 L 2.77778E-7 -0.25 " pathEditMode="relative" rAng="0" ptsTypes="AA">
                                      <p:cBhvr>
                                        <p:cTn id="6" dur="75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50"/>
                            </p:stCondLst>
                            <p:childTnLst>
                              <p:par>
                                <p:cTn id="8" presetID="64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64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12" dur="750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E441DD49-30FC-4B0C-A315-9C9F49DCF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A41365BF-E04F-3610-14AB-A72436265D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dirty="0"/>
              <a:t>MINŐSÉGBIZTOSÍTÁS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26B0104D-5BB7-DF35-99C7-75C847F5CA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5609784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b="1" dirty="0"/>
              <a:t>Fejlesztői tesztek:</a:t>
            </a:r>
            <a:r>
              <a:rPr lang="hu-HU" sz="1200" dirty="0"/>
              <a:t> Csupán a szoftver </a:t>
            </a:r>
            <a:r>
              <a:rPr lang="hu-HU" sz="1200" dirty="0" err="1"/>
              <a:t>rendkívűl</a:t>
            </a:r>
            <a:r>
              <a:rPr lang="hu-HU" sz="1200" dirty="0"/>
              <a:t> felületes tesztelését végeztük.</a:t>
            </a:r>
          </a:p>
          <a:p>
            <a:pPr marL="0" lvl="0" indent="0">
              <a:buNone/>
            </a:pPr>
            <a:endParaRPr lang="hu-HU" sz="1200" dirty="0"/>
          </a:p>
          <a:p>
            <a:pPr marL="0" lvl="0" indent="0">
              <a:buNone/>
            </a:pPr>
            <a:r>
              <a:rPr lang="hu-HU" sz="1200" b="1" dirty="0"/>
              <a:t>Tesztelő csapatunk</a:t>
            </a:r>
            <a:r>
              <a:rPr lang="hu-HU" sz="1200" dirty="0"/>
              <a:t>: 3. Csapat, </a:t>
            </a:r>
            <a:r>
              <a:rPr lang="hu-HU" sz="1200" b="1" dirty="0"/>
              <a:t>tesztvezető</a:t>
            </a:r>
            <a:r>
              <a:rPr lang="hu-HU" sz="1200" dirty="0"/>
              <a:t>: Bauer Bálint</a:t>
            </a:r>
          </a:p>
          <a:p>
            <a:pPr marL="0" lvl="0" indent="0">
              <a:buNone/>
            </a:pPr>
            <a:endParaRPr lang="hu-HU" sz="1200" dirty="0"/>
          </a:p>
          <a:p>
            <a:pPr marL="0" lvl="0" indent="0">
              <a:buNone/>
            </a:pPr>
            <a:r>
              <a:rPr lang="hu-HU" sz="1200" b="1" dirty="0"/>
              <a:t>Független tesztelés eredménye (Jegyzőkönyv v0.4):</a:t>
            </a:r>
          </a:p>
          <a:p>
            <a:pPr marL="0" lvl="0" indent="0">
              <a:buNone/>
            </a:pPr>
            <a:endParaRPr sz="1200" dirty="0"/>
          </a:p>
          <a:p>
            <a:pPr marL="171450" indent="-171450">
              <a:spcAft>
                <a:spcPts val="1600"/>
              </a:spcAft>
            </a:pPr>
            <a:r>
              <a:rPr lang="hu-HU" sz="1200" dirty="0"/>
              <a:t>Eredmény: 100%-os megfelelés.</a:t>
            </a:r>
          </a:p>
          <a:p>
            <a:pPr marL="171450" indent="-171450">
              <a:spcAft>
                <a:spcPts val="1600"/>
              </a:spcAft>
            </a:pPr>
            <a:r>
              <a:rPr lang="hu-HU" sz="1200" dirty="0"/>
              <a:t>Javítások: A gyors és rendszeres iterációknak köszönhetően a szoftver minden ismert hibáját kijavítottuk. Ez a szoftverünk 1.3 verziójában csúcsosodott ki.</a:t>
            </a:r>
            <a:endParaRPr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1F79C905-D6DE-718D-420C-5C2EC1553F8D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8" name="Kép 7" descr="A képen szöveg, képernyőkép, Betűtípus, algebr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2209337-3DB9-F147-DE2D-72FF791C8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06" y="1644232"/>
            <a:ext cx="3054652" cy="1249630"/>
          </a:xfrm>
          <a:prstGeom prst="rect">
            <a:avLst/>
          </a:prstGeom>
        </p:spPr>
      </p:pic>
      <p:pic>
        <p:nvPicPr>
          <p:cNvPr id="10" name="Kép 9" descr="A képen szöveg, képernyőkép, Betűtípus, algebr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CED7EE1-E0AE-86C8-0801-A65C5E6A68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306" y="3027316"/>
            <a:ext cx="2296352" cy="1740317"/>
          </a:xfrm>
          <a:prstGeom prst="rect">
            <a:avLst/>
          </a:prstGeom>
        </p:spPr>
      </p:pic>
      <p:grpSp>
        <p:nvGrpSpPr>
          <p:cNvPr id="11" name="Google Shape;2297;p73">
            <a:extLst>
              <a:ext uri="{FF2B5EF4-FFF2-40B4-BE49-F238E27FC236}">
                <a16:creationId xmlns:a16="http://schemas.microsoft.com/office/drawing/2014/main" id="{BDE4A64C-2862-B4FE-39B7-EA4EDC950CD8}"/>
              </a:ext>
            </a:extLst>
          </p:cNvPr>
          <p:cNvGrpSpPr/>
          <p:nvPr/>
        </p:nvGrpSpPr>
        <p:grpSpPr>
          <a:xfrm>
            <a:off x="938500" y="4484611"/>
            <a:ext cx="5349890" cy="244867"/>
            <a:chOff x="6336019" y="3733725"/>
            <a:chExt cx="2566206" cy="351310"/>
          </a:xfrm>
        </p:grpSpPr>
        <p:sp>
          <p:nvSpPr>
            <p:cNvPr id="12" name="Google Shape;2298;p73">
              <a:extLst>
                <a:ext uri="{FF2B5EF4-FFF2-40B4-BE49-F238E27FC236}">
                  <a16:creationId xmlns:a16="http://schemas.microsoft.com/office/drawing/2014/main" id="{670467C6-0040-00D2-FBA8-96BEA27C3DDD}"/>
                </a:ext>
              </a:extLst>
            </p:cNvPr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299;p73">
              <a:extLst>
                <a:ext uri="{FF2B5EF4-FFF2-40B4-BE49-F238E27FC236}">
                  <a16:creationId xmlns:a16="http://schemas.microsoft.com/office/drawing/2014/main" id="{4FAD24A4-EA73-163D-95E5-B49D2243C671}"/>
                </a:ext>
              </a:extLst>
            </p:cNvPr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300;p73">
              <a:extLst>
                <a:ext uri="{FF2B5EF4-FFF2-40B4-BE49-F238E27FC236}">
                  <a16:creationId xmlns:a16="http://schemas.microsoft.com/office/drawing/2014/main" id="{9FF922C5-F935-2B48-06BB-0F53A02455B2}"/>
                </a:ext>
              </a:extLst>
            </p:cNvPr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301;p73">
              <a:extLst>
                <a:ext uri="{FF2B5EF4-FFF2-40B4-BE49-F238E27FC236}">
                  <a16:creationId xmlns:a16="http://schemas.microsoft.com/office/drawing/2014/main" id="{B6A8CFB7-4D0D-0EAB-D29F-39B3FDC5F4CD}"/>
                </a:ext>
              </a:extLst>
            </p:cNvPr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683204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059CCF13-3A63-9451-9800-C6394B82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3">
            <a:extLst>
              <a:ext uri="{FF2B5EF4-FFF2-40B4-BE49-F238E27FC236}">
                <a16:creationId xmlns:a16="http://schemas.microsoft.com/office/drawing/2014/main" id="{7E67F1EA-DD40-23A8-4690-F1E0E620E7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2669" y="3177750"/>
            <a:ext cx="3220615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TESZTELÉS</a:t>
            </a:r>
            <a:endParaRPr dirty="0"/>
          </a:p>
        </p:txBody>
      </p:sp>
      <p:sp>
        <p:nvSpPr>
          <p:cNvPr id="207" name="Google Shape;207;p43">
            <a:extLst>
              <a:ext uri="{FF2B5EF4-FFF2-40B4-BE49-F238E27FC236}">
                <a16:creationId xmlns:a16="http://schemas.microsoft.com/office/drawing/2014/main" id="{C80BCDB3-1E2C-B76C-9040-D6520C28872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u-HU" dirty="0"/>
              <a:t>2</a:t>
            </a:r>
            <a:endParaRPr dirty="0"/>
          </a:p>
        </p:txBody>
      </p:sp>
      <p:sp>
        <p:nvSpPr>
          <p:cNvPr id="208" name="Google Shape;208;p43">
            <a:extLst>
              <a:ext uri="{FF2B5EF4-FFF2-40B4-BE49-F238E27FC236}">
                <a16:creationId xmlns:a16="http://schemas.microsoft.com/office/drawing/2014/main" id="{1BD2F5D2-3DFE-F89F-F04D-6C9DFA14AFA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hu-HU" dirty="0"/>
              <a:t>1. Csapat: Parkolóautomata szoftver tesztelése</a:t>
            </a:r>
            <a:endParaRPr dirty="0"/>
          </a:p>
        </p:txBody>
      </p:sp>
      <p:cxnSp>
        <p:nvCxnSpPr>
          <p:cNvPr id="209" name="Google Shape;209;p43">
            <a:extLst>
              <a:ext uri="{FF2B5EF4-FFF2-40B4-BE49-F238E27FC236}">
                <a16:creationId xmlns:a16="http://schemas.microsoft.com/office/drawing/2014/main" id="{21CAE168-7FDE-0B08-60CE-7C77193305AF}"/>
              </a:ext>
            </a:extLst>
          </p:cNvPr>
          <p:cNvCxnSpPr/>
          <p:nvPr/>
        </p:nvCxnSpPr>
        <p:spPr>
          <a:xfrm>
            <a:off x="3610750" y="3253297"/>
            <a:ext cx="0" cy="999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3" name="Google Shape;2117;p64">
            <a:extLst>
              <a:ext uri="{FF2B5EF4-FFF2-40B4-BE49-F238E27FC236}">
                <a16:creationId xmlns:a16="http://schemas.microsoft.com/office/drawing/2014/main" id="{E0A34F28-2368-7A27-8D18-36D2ECC34DEC}"/>
              </a:ext>
            </a:extLst>
          </p:cNvPr>
          <p:cNvGrpSpPr/>
          <p:nvPr/>
        </p:nvGrpSpPr>
        <p:grpSpPr>
          <a:xfrm>
            <a:off x="3123132" y="660400"/>
            <a:ext cx="2897735" cy="2108550"/>
            <a:chOff x="238125" y="1973675"/>
            <a:chExt cx="2558775" cy="1951825"/>
          </a:xfrm>
        </p:grpSpPr>
        <p:sp>
          <p:nvSpPr>
            <p:cNvPr id="4" name="Google Shape;2118;p64">
              <a:extLst>
                <a:ext uri="{FF2B5EF4-FFF2-40B4-BE49-F238E27FC236}">
                  <a16:creationId xmlns:a16="http://schemas.microsoft.com/office/drawing/2014/main" id="{91AE4B32-9BC5-2972-0FAA-BAB81A2BCED4}"/>
                </a:ext>
              </a:extLst>
            </p:cNvPr>
            <p:cNvSpPr/>
            <p:nvPr/>
          </p:nvSpPr>
          <p:spPr>
            <a:xfrm>
              <a:off x="325550" y="2055000"/>
              <a:ext cx="2386075" cy="1459975"/>
            </a:xfrm>
            <a:custGeom>
              <a:avLst/>
              <a:gdLst/>
              <a:ahLst/>
              <a:cxnLst/>
              <a:rect l="l" t="t" r="r" b="b"/>
              <a:pathLst>
                <a:path w="95443" h="58399" extrusionOk="0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119;p64">
              <a:extLst>
                <a:ext uri="{FF2B5EF4-FFF2-40B4-BE49-F238E27FC236}">
                  <a16:creationId xmlns:a16="http://schemas.microsoft.com/office/drawing/2014/main" id="{B075D849-C45D-FF88-BEFE-A1BE390A4613}"/>
                </a:ext>
              </a:extLst>
            </p:cNvPr>
            <p:cNvSpPr/>
            <p:nvPr/>
          </p:nvSpPr>
          <p:spPr>
            <a:xfrm>
              <a:off x="1075325" y="3589700"/>
              <a:ext cx="884075" cy="335800"/>
            </a:xfrm>
            <a:custGeom>
              <a:avLst/>
              <a:gdLst/>
              <a:ahLst/>
              <a:cxnLst/>
              <a:rect l="l" t="t" r="r" b="b"/>
              <a:pathLst>
                <a:path w="35363" h="13432" extrusionOk="0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120;p64">
              <a:extLst>
                <a:ext uri="{FF2B5EF4-FFF2-40B4-BE49-F238E27FC236}">
                  <a16:creationId xmlns:a16="http://schemas.microsoft.com/office/drawing/2014/main" id="{294756EE-BE6E-59C8-7CFE-E8361FBE3931}"/>
                </a:ext>
              </a:extLst>
            </p:cNvPr>
            <p:cNvSpPr/>
            <p:nvPr/>
          </p:nvSpPr>
          <p:spPr>
            <a:xfrm>
              <a:off x="238125" y="1973675"/>
              <a:ext cx="2558775" cy="1623600"/>
            </a:xfrm>
            <a:custGeom>
              <a:avLst/>
              <a:gdLst/>
              <a:ahLst/>
              <a:cxnLst/>
              <a:rect l="l" t="t" r="r" b="b"/>
              <a:pathLst>
                <a:path w="102351" h="64944" extrusionOk="0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121;p64">
              <a:extLst>
                <a:ext uri="{FF2B5EF4-FFF2-40B4-BE49-F238E27FC236}">
                  <a16:creationId xmlns:a16="http://schemas.microsoft.com/office/drawing/2014/main" id="{762B1109-B261-8096-664B-2D0BD28F05C6}"/>
                </a:ext>
              </a:extLst>
            </p:cNvPr>
            <p:cNvSpPr/>
            <p:nvPr/>
          </p:nvSpPr>
          <p:spPr>
            <a:xfrm>
              <a:off x="255425" y="1991200"/>
              <a:ext cx="2524175" cy="1588500"/>
            </a:xfrm>
            <a:custGeom>
              <a:avLst/>
              <a:gdLst/>
              <a:ahLst/>
              <a:cxnLst/>
              <a:rect l="l" t="t" r="r" b="b"/>
              <a:pathLst>
                <a:path w="100967" h="63540" extrusionOk="0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122;p64">
              <a:extLst>
                <a:ext uri="{FF2B5EF4-FFF2-40B4-BE49-F238E27FC236}">
                  <a16:creationId xmlns:a16="http://schemas.microsoft.com/office/drawing/2014/main" id="{B7DA9CDC-90E7-610C-2BF0-59430E18ABC7}"/>
                </a:ext>
              </a:extLst>
            </p:cNvPr>
            <p:cNvSpPr/>
            <p:nvPr/>
          </p:nvSpPr>
          <p:spPr>
            <a:xfrm>
              <a:off x="1091150" y="3888075"/>
              <a:ext cx="856825" cy="25"/>
            </a:xfrm>
            <a:custGeom>
              <a:avLst/>
              <a:gdLst/>
              <a:ahLst/>
              <a:cxnLst/>
              <a:rect l="l" t="t" r="r" b="b"/>
              <a:pathLst>
                <a:path w="34273" h="1" extrusionOk="0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123;p64">
              <a:extLst>
                <a:ext uri="{FF2B5EF4-FFF2-40B4-BE49-F238E27FC236}">
                  <a16:creationId xmlns:a16="http://schemas.microsoft.com/office/drawing/2014/main" id="{36C1B31E-E569-F64A-1408-557D14368E18}"/>
                </a:ext>
              </a:extLst>
            </p:cNvPr>
            <p:cNvSpPr/>
            <p:nvPr/>
          </p:nvSpPr>
          <p:spPr>
            <a:xfrm>
              <a:off x="1091125" y="3881600"/>
              <a:ext cx="856850" cy="12925"/>
            </a:xfrm>
            <a:custGeom>
              <a:avLst/>
              <a:gdLst/>
              <a:ahLst/>
              <a:cxnLst/>
              <a:rect l="l" t="t" r="r" b="b"/>
              <a:pathLst>
                <a:path w="34274" h="517" extrusionOk="0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3" name="Kép 12" descr="A képen szöveg, képernyőkép, Betűtípus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44CF31A-B69A-9E59-3596-D1AB94C5C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1157" y="749807"/>
            <a:ext cx="2669072" cy="1562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6076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AA713024-9A8C-F4E1-1072-35325F81C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2E205694-F6F7-F272-C0BB-15470EB44B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dirty="0"/>
              <a:t>TESZTELÉSI STRATÉGIA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62DE07D6-2C0B-CF02-7078-74E690233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hu-HU" sz="1200" b="1" dirty="0"/>
              <a:t>Tesztelt szoftver:</a:t>
            </a:r>
            <a:r>
              <a:rPr lang="hu-HU" sz="1200" dirty="0"/>
              <a:t> </a:t>
            </a:r>
            <a:r>
              <a:rPr lang="hu-HU" sz="1200" dirty="0" err="1"/>
              <a:t>Automatic</a:t>
            </a:r>
            <a:r>
              <a:rPr lang="hu-HU" sz="1200" dirty="0"/>
              <a:t> Parking </a:t>
            </a:r>
            <a:r>
              <a:rPr lang="hu-HU" sz="1200" dirty="0" err="1"/>
              <a:t>Simulation</a:t>
            </a:r>
            <a:r>
              <a:rPr lang="hu-HU" sz="1200" dirty="0"/>
              <a:t> (1. Csapat).</a:t>
            </a:r>
          </a:p>
          <a:p>
            <a:pPr marL="0" lvl="0" indent="0">
              <a:buNone/>
            </a:pPr>
            <a:endParaRPr dirty="0"/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b="1" dirty="0"/>
              <a:t>Fő tesztelők:</a:t>
            </a:r>
            <a:r>
              <a:rPr lang="hu-HU" sz="1200" dirty="0"/>
              <a:t> Lőrincz Márton (Tesztvezető), Csikós Bendegúz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Specifikáció tesztelése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A specifikációnak megfelelő tesztek elvégzése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b="1" dirty="0"/>
              <a:t>Módszertan:</a:t>
            </a:r>
          </a:p>
          <a:p>
            <a:pPr marL="171450" indent="-171450">
              <a:spcAft>
                <a:spcPts val="1600"/>
              </a:spcAft>
            </a:pPr>
            <a:r>
              <a:rPr lang="hu-HU" sz="1200" b="1" dirty="0"/>
              <a:t>Statikus tesztelés</a:t>
            </a:r>
            <a:r>
              <a:rPr lang="hu-HU" sz="1200" dirty="0"/>
              <a:t>:  Dokumentáció alapú elemzés (Specifikáció ellenőrzése).</a:t>
            </a:r>
          </a:p>
          <a:p>
            <a:pPr marL="171450" indent="-171450">
              <a:spcAft>
                <a:spcPts val="1600"/>
              </a:spcAft>
            </a:pPr>
            <a:r>
              <a:rPr lang="hu-HU" sz="1200" b="1" dirty="0"/>
              <a:t>Dinamikus tesztelés: </a:t>
            </a:r>
            <a:r>
              <a:rPr lang="hu-HU" sz="1200" dirty="0"/>
              <a:t>Feketedobozos tesztelés (Black-</a:t>
            </a:r>
            <a:r>
              <a:rPr lang="hu-HU" sz="1200" dirty="0" err="1"/>
              <a:t>box</a:t>
            </a:r>
            <a:r>
              <a:rPr lang="hu-HU" sz="1200" dirty="0"/>
              <a:t>), Rendszerteszt szint.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200" dirty="0"/>
              <a:t>Környezet: Windows 11, Java 21.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hu-HU" sz="1600" b="1" dirty="0"/>
              <a:t>EREDMÉNYEK: </a:t>
            </a:r>
            <a:r>
              <a:rPr lang="hu-HU" sz="1600" dirty="0"/>
              <a:t>Kielégítőek</a:t>
            </a: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D19BA68E-A75B-10FB-3417-5E47C7E68204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E75DE782-19D9-5CF0-AC51-936C808DDF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10416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477302E9-054D-E249-EC82-D4DFCA66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A7282789-5B18-E4E5-BC92-80A27F12C1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Statikus tesztelés:</a:t>
            </a:r>
            <a:br>
              <a:rPr lang="hu-HU" dirty="0"/>
            </a:br>
            <a:r>
              <a:rPr lang="hu-HU" sz="2000" dirty="0"/>
              <a:t>A Specifikáció hibái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544FDAE0-9CC3-89FF-8924-EE04BB767C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Nyelvfüggetlenség sérülése: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Java-hoz kötött specifikáció, nem absztrakt üzleti logikát írt le.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Inkonzisztencia: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visszajáró kiadása csak 100-as címletekben történt -&gt; Nem specifikációval egyező.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Tisztázatlan fogalmak: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"Limit" szó egyszerre jelentett kasszaegyenleget és </a:t>
            </a:r>
            <a:r>
              <a:rPr lang="hu-HU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admin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konfigurációs korlátot.</a:t>
            </a:r>
            <a:r>
              <a:rPr lang="hu-HU" sz="1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  <a:p>
            <a:pPr marL="0" indent="0">
              <a:buNone/>
            </a:pPr>
            <a:endParaRPr lang="hu-HU" sz="1200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>
              <a:buNone/>
            </a:pPr>
            <a:r>
              <a:rPr lang="hu-HU" sz="1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(Forrás: Parkolóautomata_specifikacio_jegyzokonyv.docx)</a:t>
            </a:r>
          </a:p>
          <a:p>
            <a:pPr marL="0" lvl="0" indent="0">
              <a:buNone/>
            </a:pP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7EF6EC98-CC21-6ACC-74AF-5D6CC4330370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BA55B4E8-CA26-0804-9C78-B73279A1F4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0230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DF0D536C-6C02-6244-03AF-3DC671F24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ADC9D915-3663-D565-CC25-76E974E9B9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Statikus tesztelés:</a:t>
            </a:r>
            <a:br>
              <a:rPr lang="hu-HU" dirty="0"/>
            </a:br>
            <a:r>
              <a:rPr lang="hu-HU" sz="2000" dirty="0"/>
              <a:t>Kritikus tervezési hiányosságok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2D31E8AD-4107-B710-75A8-8F8D7677D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Hibakezelés problémája: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specifikáció szerint kritikus hiba (pl. </a:t>
            </a:r>
            <a:r>
              <a:rPr lang="hu-HU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LimitExceededException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 esetén a program teljesen leáll.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Értékelés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Egy köztéri automatánál ez elfogadhatatlan (nem indul újra, beavatkozás szükséges)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Mérhetetlenség</a:t>
            </a: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nem-funkcionális követelmények (pl. "gyors", "biztonságos") nem voltak számszerűsítve.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(Forrás: Parkolóautomata_specifikacio_jegyzokonyv.docx)</a:t>
            </a:r>
            <a:endParaRPr lang="hu-HU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endParaRPr lang="hu-HU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lvl="0" indent="0">
              <a:buNone/>
            </a:pP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03F9AB2A-E6C9-55BC-41BE-46A3C3B358B0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9AE846A8-05B4-78AF-42CB-1C83C4EF97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37915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89BFC511-E131-F02A-8451-8BC0025C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65058D68-C371-E630-9109-C3E1157B7E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Dinamikus tesztelés:</a:t>
            </a:r>
            <a:br>
              <a:rPr lang="hu-HU" dirty="0"/>
            </a:br>
            <a:r>
              <a:rPr lang="hu-HU" sz="2000" dirty="0"/>
              <a:t>Végrehajtás</a:t>
            </a:r>
            <a:endParaRPr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4352E59E-1FEE-52C5-9FCF-1804D007EF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Verzió</a:t>
            </a:r>
            <a:r>
              <a:rPr lang="hu-HU" sz="1200" dirty="0"/>
              <a:t>: v2.0 tesztelése (a v1.0 hibáinak javítása után).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Teszt típusok</a:t>
            </a:r>
            <a:r>
              <a:rPr lang="hu-HU" sz="1200" dirty="0"/>
              <a:t>: Funkcionális tesztek (System Testing).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Tesztesetek</a:t>
            </a:r>
            <a:r>
              <a:rPr lang="hu-HU" sz="1200" dirty="0"/>
              <a:t>: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Adminisztrátori funkciók (Belépés, Pénzfeltöltés, </a:t>
            </a:r>
            <a:r>
              <a:rPr lang="hu-HU" sz="1200" dirty="0" err="1"/>
              <a:t>Balance</a:t>
            </a:r>
            <a:r>
              <a:rPr lang="hu-HU" sz="1200" dirty="0"/>
              <a:t> lekérdezés).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Felhasználói folyamatok (Parkolás indítása, Fizetés).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Teljes állapotátmenet tesztelés implementálása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Határérték-analízis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dirty="0"/>
              <a:t>Példa teszteset (TE-A-05-1): </a:t>
            </a:r>
            <a:r>
              <a:rPr lang="hu-HU" sz="1200" dirty="0" err="1"/>
              <a:t>Balance</a:t>
            </a:r>
            <a:r>
              <a:rPr lang="hu-HU" sz="1200" dirty="0"/>
              <a:t> menü megnyitása -&gt; Sikeres (PASS).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i="1" dirty="0"/>
              <a:t>(Forrás: SZOFTVERTESZTELÉSI JEGYZŐKÖNYV.docx)</a:t>
            </a:r>
            <a:endParaRPr lang="hu-HU" sz="1200" dirty="0"/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endParaRPr lang="hu-HU" sz="12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1C591A82-7929-83C7-42C3-A786E10801A5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0EC51975-01C0-E5CF-8438-FD7FB128CB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1101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4648FFB4-8229-D107-E456-C0F9FD523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667C3B11-63F8-E8DC-933C-EAEA679E4D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Eredmények és Hibajegyek</a:t>
            </a:r>
            <a:endParaRPr cap="all" dirty="0"/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4A3B30FA-C1D4-0AE0-EEA9-4526860BEA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591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Javított hibák: 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dirty="0"/>
              <a:t>Az 1.0-ás verzió hibái a tesztelés hatására javításra kerültek.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200" b="1" dirty="0"/>
              <a:t>Végső állapot (v2.0):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b="1" dirty="0" err="1"/>
              <a:t>Admin</a:t>
            </a:r>
            <a:r>
              <a:rPr lang="hu-HU" sz="1200" b="1" dirty="0"/>
              <a:t> funkciók: </a:t>
            </a:r>
            <a:r>
              <a:rPr lang="hu-HU" sz="1200" dirty="0"/>
              <a:t>Megfelelően működnek.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b="1" dirty="0"/>
              <a:t>Fizetési folyamat</a:t>
            </a:r>
            <a:r>
              <a:rPr lang="hu-HU" sz="1200" dirty="0"/>
              <a:t>: Stabil.</a:t>
            </a:r>
          </a:p>
          <a:p>
            <a:pPr marL="171450" indent="-171450">
              <a:spcBef>
                <a:spcPts val="600"/>
              </a:spcBef>
              <a:spcAft>
                <a:spcPts val="600"/>
              </a:spcAft>
            </a:pPr>
            <a:r>
              <a:rPr lang="hu-HU" sz="1200" b="1" dirty="0"/>
              <a:t>Kivételkezelés</a:t>
            </a:r>
            <a:r>
              <a:rPr lang="hu-HU" sz="1200" dirty="0"/>
              <a:t>: A specifikáció hibái ellenére a szoftver működőképes lett.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endParaRPr lang="hu-HU" sz="1200" dirty="0"/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hu-HU" sz="1600" b="1" dirty="0"/>
              <a:t>Összesített eredmény: A szoftver átment a teszteken (PASS).</a:t>
            </a:r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22E3C322-7743-9ACA-7FAF-3EE787448D6E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AutoShape 4">
            <a:extLst>
              <a:ext uri="{FF2B5EF4-FFF2-40B4-BE49-F238E27FC236}">
                <a16:creationId xmlns:a16="http://schemas.microsoft.com/office/drawing/2014/main" id="{75FD4015-2B12-479A-D074-A073795E76D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6604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Google Shape;2089;p62"/>
          <p:cNvSpPr txBox="1">
            <a:spLocks noGrp="1"/>
          </p:cNvSpPr>
          <p:nvPr>
            <p:ph type="subTitle" idx="1"/>
          </p:nvPr>
        </p:nvSpPr>
        <p:spPr>
          <a:xfrm>
            <a:off x="938500" y="1604194"/>
            <a:ext cx="2871600" cy="26297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hu-HU" b="1" dirty="0"/>
              <a:t>Saját projekt:</a:t>
            </a:r>
            <a:r>
              <a:rPr lang="hu-HU" dirty="0"/>
              <a:t> </a:t>
            </a:r>
          </a:p>
          <a:p>
            <a:pPr marL="0" lvl="0" indent="0"/>
            <a:r>
              <a:rPr lang="hu-HU" dirty="0"/>
              <a:t>Sikeresen implementáltuk a követelményeket, a külső tesztelés során feltárt hibákat maradék nélkül kijavítottuk.</a:t>
            </a:r>
            <a:br>
              <a:rPr lang="hu-HU" dirty="0"/>
            </a:br>
            <a:br>
              <a:rPr lang="hu-HU" dirty="0"/>
            </a:br>
            <a:r>
              <a:rPr lang="hu-HU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Ismert hibák: 0</a:t>
            </a:r>
            <a:endParaRPr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090" name="Google Shape;2090;p62"/>
          <p:cNvSpPr txBox="1">
            <a:spLocks noGrp="1"/>
          </p:cNvSpPr>
          <p:nvPr>
            <p:ph type="body" idx="2"/>
          </p:nvPr>
        </p:nvSpPr>
        <p:spPr>
          <a:xfrm>
            <a:off x="4703374" y="909600"/>
            <a:ext cx="3881825" cy="33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lvl="0" indent="0" algn="l" rtl="0">
              <a:spcBef>
                <a:spcPts val="600"/>
              </a:spcBef>
              <a:spcAft>
                <a:spcPts val="600"/>
              </a:spcAft>
              <a:buClr>
                <a:schemeClr val="lt1"/>
              </a:buClr>
              <a:buSzPts val="1400"/>
              <a:buNone/>
            </a:pPr>
            <a:r>
              <a:rPr lang="hu-HU" sz="1600" b="1" dirty="0"/>
              <a:t>Parkolóautomata Tesztelés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A specifikáció minősége alapvetően meghatározza a tesztelhetőséget.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A statikus tesztelés (dokumentáció olvasása) rengeteg logikai hibát tárt fel még kódolás előtt.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A feketedobozos teszteléssel sikerült </a:t>
            </a:r>
            <a:r>
              <a:rPr lang="hu-HU" dirty="0" err="1">
                <a:solidFill>
                  <a:schemeClr val="lt1"/>
                </a:solidFill>
              </a:rPr>
              <a:t>validálni</a:t>
            </a:r>
            <a:r>
              <a:rPr lang="hu-HU" dirty="0">
                <a:solidFill>
                  <a:schemeClr val="lt1"/>
                </a:solidFill>
              </a:rPr>
              <a:t> a felhasználói élményt.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dirty="0">
                <a:solidFill>
                  <a:schemeClr val="lt1"/>
                </a:solidFill>
              </a:rPr>
              <a:t>95%-os lefedettség a tesztelés során, nincs ismert hiba a programban. </a:t>
            </a:r>
          </a:p>
          <a:p>
            <a:pPr marL="1397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endParaRPr b="1" dirty="0">
              <a:solidFill>
                <a:schemeClr val="lt1"/>
              </a:solidFill>
            </a:endParaRPr>
          </a:p>
        </p:txBody>
      </p:sp>
      <p:sp>
        <p:nvSpPr>
          <p:cNvPr id="2091" name="Google Shape;2091;p62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cap="all" dirty="0"/>
              <a:t>Összegzés és Tanulságok</a:t>
            </a:r>
            <a:endParaRPr cap="all" dirty="0"/>
          </a:p>
        </p:txBody>
      </p:sp>
      <p:cxnSp>
        <p:nvCxnSpPr>
          <p:cNvPr id="2092" name="Google Shape;2092;p6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9"/>
          <p:cNvSpPr txBox="1">
            <a:spLocks noGrp="1"/>
          </p:cNvSpPr>
          <p:nvPr>
            <p:ph type="ctrTitle"/>
          </p:nvPr>
        </p:nvSpPr>
        <p:spPr>
          <a:xfrm>
            <a:off x="-33810" y="1534325"/>
            <a:ext cx="9211620" cy="9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sz="4000" dirty="0"/>
              <a:t>KÖSZÖNJÜK A FIGYELMET!</a:t>
            </a:r>
            <a:endParaRPr sz="4000" dirty="0"/>
          </a:p>
        </p:txBody>
      </p:sp>
      <p:sp>
        <p:nvSpPr>
          <p:cNvPr id="274" name="Google Shape;274;p49"/>
          <p:cNvSpPr txBox="1">
            <a:spLocks noGrp="1"/>
          </p:cNvSpPr>
          <p:nvPr>
            <p:ph type="subTitle" idx="1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Any</a:t>
            </a:r>
            <a:r>
              <a:rPr lang="hu-HU" dirty="0"/>
              <a:t> </a:t>
            </a:r>
            <a:r>
              <a:rPr lang="hu-HU" dirty="0" err="1"/>
              <a:t>questions</a:t>
            </a:r>
            <a:r>
              <a:rPr lang="hu-HU" dirty="0"/>
              <a:t>?</a:t>
            </a:r>
            <a:endParaRPr dirty="0"/>
          </a:p>
        </p:txBody>
      </p:sp>
      <p:cxnSp>
        <p:nvCxnSpPr>
          <p:cNvPr id="275" name="Google Shape;275;p49"/>
          <p:cNvCxnSpPr/>
          <p:nvPr/>
        </p:nvCxnSpPr>
        <p:spPr>
          <a:xfrm>
            <a:off x="3190500" y="23542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741</Words>
  <Application>Microsoft Office PowerPoint</Application>
  <PresentationFormat>Diavetítés a képernyőre (16:9 oldalarány)</PresentationFormat>
  <Paragraphs>125</Paragraphs>
  <Slides>14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Arial</vt:lpstr>
      <vt:lpstr>Montserrat</vt:lpstr>
      <vt:lpstr>Montserrat ExtraBold</vt:lpstr>
      <vt:lpstr>Montserrat ExtraLight</vt:lpstr>
      <vt:lpstr>Futuristic Background by Slidesgo</vt:lpstr>
      <vt:lpstr>Szoftverfejlesztés-és tesztelés</vt:lpstr>
      <vt:lpstr>01</vt:lpstr>
      <vt:lpstr>FEJLESZTÉS</vt:lpstr>
      <vt:lpstr>CÉLUNK</vt:lpstr>
      <vt:lpstr>CÉLUNK</vt:lpstr>
      <vt:lpstr>MINŐSÉGBIZTOSÍTÁS</vt:lpstr>
      <vt:lpstr>TESZTELÉS</vt:lpstr>
      <vt:lpstr>TESZTELÉSI STRATÉGIA</vt:lpstr>
      <vt:lpstr>Statikus tesztelés: A Specifikáció hibái</vt:lpstr>
      <vt:lpstr>Statikus tesztelés: Kritikus tervezési hiányosságok</vt:lpstr>
      <vt:lpstr>Dinamikus tesztelés: Végrehajtás</vt:lpstr>
      <vt:lpstr>Eredmények és Hibajegyek</vt:lpstr>
      <vt:lpstr>Összegzés és Tanulságok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Szoftvertesztelés</dc:title>
  <cp:lastModifiedBy>Káldor Levente</cp:lastModifiedBy>
  <cp:revision>27</cp:revision>
  <dcterms:modified xsi:type="dcterms:W3CDTF">2026-01-15T08:31:44Z</dcterms:modified>
</cp:coreProperties>
</file>