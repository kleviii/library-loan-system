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3" r:id="rId1"/>
  </p:sldMasterIdLst>
  <p:notesMasterIdLst>
    <p:notesMasterId r:id="rId16"/>
  </p:notesMasterIdLst>
  <p:sldIdLst>
    <p:sldId id="256" r:id="rId2"/>
    <p:sldId id="258" r:id="rId3"/>
    <p:sldId id="261" r:id="rId4"/>
    <p:sldId id="257" r:id="rId5"/>
    <p:sldId id="312" r:id="rId6"/>
    <p:sldId id="305" r:id="rId7"/>
    <p:sldId id="306" r:id="rId8"/>
    <p:sldId id="307" r:id="rId9"/>
    <p:sldId id="308" r:id="rId10"/>
    <p:sldId id="309" r:id="rId11"/>
    <p:sldId id="310" r:id="rId12"/>
    <p:sldId id="311" r:id="rId13"/>
    <p:sldId id="280" r:id="rId14"/>
    <p:sldId id="267" r:id="rId15"/>
  </p:sldIdLst>
  <p:sldSz cx="9144000" cy="5143500" type="screen16x9"/>
  <p:notesSz cx="6858000" cy="9144000"/>
  <p:embeddedFontLst>
    <p:embeddedFont>
      <p:font typeface="Montserrat" pitchFamily="2" charset="-18"/>
      <p:regular r:id="rId17"/>
      <p:bold r:id="rId18"/>
      <p:italic r:id="rId19"/>
      <p:boldItalic r:id="rId20"/>
    </p:embeddedFont>
    <p:embeddedFont>
      <p:font typeface="Montserrat ExtraBold" pitchFamily="2" charset="-18"/>
      <p:bold r:id="rId21"/>
      <p:boldItalic r:id="rId22"/>
    </p:embeddedFont>
    <p:embeddedFont>
      <p:font typeface="Montserrat ExtraLight" pitchFamily="2" charset="-18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D3790E5-EB3E-47F2-AF84-1620D86740D0}">
  <a:tblStyle styleId="{8D3790E5-EB3E-47F2-AF84-1620D86740D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99" autoAdjust="0"/>
    <p:restoredTop sz="95789" autoAdjust="0"/>
  </p:normalViewPr>
  <p:slideViewPr>
    <p:cSldViewPr snapToGrid="0">
      <p:cViewPr varScale="1">
        <p:scale>
          <a:sx n="104" d="100"/>
          <a:sy n="104" d="100"/>
        </p:scale>
        <p:origin x="87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7f9262ee2f_0_262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7f9262ee2f_0_262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7f9262ee2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7f9262ee2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7f9262ee2f_0_262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7f9262ee2f_0_262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>
          <a:extLst>
            <a:ext uri="{FF2B5EF4-FFF2-40B4-BE49-F238E27FC236}">
              <a16:creationId xmlns:a16="http://schemas.microsoft.com/office/drawing/2014/main" id="{DD978C93-DE50-7B27-5C33-CC01FBC0E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7f9262ee2f_0_26269:notes">
            <a:extLst>
              <a:ext uri="{FF2B5EF4-FFF2-40B4-BE49-F238E27FC236}">
                <a16:creationId xmlns:a16="http://schemas.microsoft.com/office/drawing/2014/main" id="{434A77DF-EBCB-F9E7-FF0C-E75F13ACDB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7f9262ee2f_0_26269:notes">
            <a:extLst>
              <a:ext uri="{FF2B5EF4-FFF2-40B4-BE49-F238E27FC236}">
                <a16:creationId xmlns:a16="http://schemas.microsoft.com/office/drawing/2014/main" id="{E2F50859-B69B-AB90-CF00-94CCBD2A2A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688843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>
          <a:extLst>
            <a:ext uri="{FF2B5EF4-FFF2-40B4-BE49-F238E27FC236}">
              <a16:creationId xmlns:a16="http://schemas.microsoft.com/office/drawing/2014/main" id="{607CD4FC-616C-C550-A9D7-DA9A2F854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7f9262ee2f_0_26269:notes">
            <a:extLst>
              <a:ext uri="{FF2B5EF4-FFF2-40B4-BE49-F238E27FC236}">
                <a16:creationId xmlns:a16="http://schemas.microsoft.com/office/drawing/2014/main" id="{AE497220-B95F-94F5-B10E-956B180A97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7f9262ee2f_0_26269:notes">
            <a:extLst>
              <a:ext uri="{FF2B5EF4-FFF2-40B4-BE49-F238E27FC236}">
                <a16:creationId xmlns:a16="http://schemas.microsoft.com/office/drawing/2014/main" id="{008FF128-0B2A-7314-BF7D-948AF6743E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74205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177309E7-60A0-843C-65B7-A62F12323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7f9262ee2f_0_0:notes">
            <a:extLst>
              <a:ext uri="{FF2B5EF4-FFF2-40B4-BE49-F238E27FC236}">
                <a16:creationId xmlns:a16="http://schemas.microsoft.com/office/drawing/2014/main" id="{39410A26-3F43-AF62-C97E-EA99882D67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7f9262ee2f_0_0:notes">
            <a:extLst>
              <a:ext uri="{FF2B5EF4-FFF2-40B4-BE49-F238E27FC236}">
                <a16:creationId xmlns:a16="http://schemas.microsoft.com/office/drawing/2014/main" id="{AEE16991-0160-32AB-3779-304E00A920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511042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>
          <a:extLst>
            <a:ext uri="{FF2B5EF4-FFF2-40B4-BE49-F238E27FC236}">
              <a16:creationId xmlns:a16="http://schemas.microsoft.com/office/drawing/2014/main" id="{41E97813-3A68-C7F5-58FB-047C31842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7f9262ee2f_0_26269:notes">
            <a:extLst>
              <a:ext uri="{FF2B5EF4-FFF2-40B4-BE49-F238E27FC236}">
                <a16:creationId xmlns:a16="http://schemas.microsoft.com/office/drawing/2014/main" id="{649806EB-0A12-D1F7-7924-CF95533148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7f9262ee2f_0_26269:notes">
            <a:extLst>
              <a:ext uri="{FF2B5EF4-FFF2-40B4-BE49-F238E27FC236}">
                <a16:creationId xmlns:a16="http://schemas.microsoft.com/office/drawing/2014/main" id="{25C7FD28-81C5-945A-76A2-955092D5D5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018327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>
          <a:extLst>
            <a:ext uri="{FF2B5EF4-FFF2-40B4-BE49-F238E27FC236}">
              <a16:creationId xmlns:a16="http://schemas.microsoft.com/office/drawing/2014/main" id="{9BA4C22C-C814-8802-6273-EE7154352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7f9262ee2f_0_26269:notes">
            <a:extLst>
              <a:ext uri="{FF2B5EF4-FFF2-40B4-BE49-F238E27FC236}">
                <a16:creationId xmlns:a16="http://schemas.microsoft.com/office/drawing/2014/main" id="{7ADD325E-26A1-90AA-C427-9967D52247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7f9262ee2f_0_26269:notes">
            <a:extLst>
              <a:ext uri="{FF2B5EF4-FFF2-40B4-BE49-F238E27FC236}">
                <a16:creationId xmlns:a16="http://schemas.microsoft.com/office/drawing/2014/main" id="{9FACA75D-B30A-B69F-0579-C809493BFD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094897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>
          <a:extLst>
            <a:ext uri="{FF2B5EF4-FFF2-40B4-BE49-F238E27FC236}">
              <a16:creationId xmlns:a16="http://schemas.microsoft.com/office/drawing/2014/main" id="{56EFAC68-9C8B-E6DF-B965-825D8CB44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7f9262ee2f_0_26269:notes">
            <a:extLst>
              <a:ext uri="{FF2B5EF4-FFF2-40B4-BE49-F238E27FC236}">
                <a16:creationId xmlns:a16="http://schemas.microsoft.com/office/drawing/2014/main" id="{7BCD5EBF-8FD4-013C-09A9-A37C8E90F6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7f9262ee2f_0_26269:notes">
            <a:extLst>
              <a:ext uri="{FF2B5EF4-FFF2-40B4-BE49-F238E27FC236}">
                <a16:creationId xmlns:a16="http://schemas.microsoft.com/office/drawing/2014/main" id="{B85B09EA-5669-EE24-EDC7-60BD9C7576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805589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>
          <a:extLst>
            <a:ext uri="{FF2B5EF4-FFF2-40B4-BE49-F238E27FC236}">
              <a16:creationId xmlns:a16="http://schemas.microsoft.com/office/drawing/2014/main" id="{4AF7F295-BBC5-B1C0-B85C-0B1E93CDA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7f9262ee2f_0_26269:notes">
            <a:extLst>
              <a:ext uri="{FF2B5EF4-FFF2-40B4-BE49-F238E27FC236}">
                <a16:creationId xmlns:a16="http://schemas.microsoft.com/office/drawing/2014/main" id="{AA52B652-D7D1-AED0-4D29-300812C899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7f9262ee2f_0_26269:notes">
            <a:extLst>
              <a:ext uri="{FF2B5EF4-FFF2-40B4-BE49-F238E27FC236}">
                <a16:creationId xmlns:a16="http://schemas.microsoft.com/office/drawing/2014/main" id="{7562E412-E002-2220-688F-8FCA4738CE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706587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>
          <a:extLst>
            <a:ext uri="{FF2B5EF4-FFF2-40B4-BE49-F238E27FC236}">
              <a16:creationId xmlns:a16="http://schemas.microsoft.com/office/drawing/2014/main" id="{E8F222F4-E55C-7E01-45C0-81CB8E9EC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7f9262ee2f_0_26269:notes">
            <a:extLst>
              <a:ext uri="{FF2B5EF4-FFF2-40B4-BE49-F238E27FC236}">
                <a16:creationId xmlns:a16="http://schemas.microsoft.com/office/drawing/2014/main" id="{33B0FE49-3725-6BC8-7705-1CF0F66D98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7f9262ee2f_0_26269:notes">
            <a:extLst>
              <a:ext uri="{FF2B5EF4-FFF2-40B4-BE49-F238E27FC236}">
                <a16:creationId xmlns:a16="http://schemas.microsoft.com/office/drawing/2014/main" id="{34828402-F25E-36B1-BD20-D1B74B663A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171047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6" name="Google Shape;2086;g7f9262ee2f_0_263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7" name="Google Shape;2087;g7f9262ee2f_0_263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7f9262ee2f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1" name="Google Shape;271;g7f9262ee2f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2175900" y="1950100"/>
            <a:ext cx="4792200" cy="6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2044200" y="3704650"/>
            <a:ext cx="50556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3762670" y="3177750"/>
            <a:ext cx="3068700" cy="59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title" idx="2" hasCustomPrompt="1"/>
          </p:nvPr>
        </p:nvSpPr>
        <p:spPr>
          <a:xfrm>
            <a:off x="1048270" y="3287500"/>
            <a:ext cx="2412900" cy="931500"/>
          </a:xfrm>
          <a:prstGeom prst="rect">
            <a:avLst/>
          </a:prstGeom>
          <a:effectLst>
            <a:outerShdw blurRad="114300" dist="28575" dir="6360000" algn="bl" rotWithShape="0">
              <a:schemeClr val="accent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3762670" y="3720650"/>
            <a:ext cx="30687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938500" y="1659275"/>
            <a:ext cx="3186900" cy="276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body" idx="2"/>
          </p:nvPr>
        </p:nvSpPr>
        <p:spPr>
          <a:xfrm>
            <a:off x="5037525" y="1659275"/>
            <a:ext cx="3186900" cy="276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9"/>
          <p:cNvSpPr txBox="1">
            <a:spLocks noGrp="1"/>
          </p:cNvSpPr>
          <p:nvPr>
            <p:ph type="subTitle" idx="1"/>
          </p:nvPr>
        </p:nvSpPr>
        <p:spPr>
          <a:xfrm>
            <a:off x="938500" y="1769575"/>
            <a:ext cx="28716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33" name="Google Shape;33;p9"/>
          <p:cNvSpPr txBox="1">
            <a:spLocks noGrp="1"/>
          </p:cNvSpPr>
          <p:nvPr>
            <p:ph type="body" idx="2"/>
          </p:nvPr>
        </p:nvSpPr>
        <p:spPr>
          <a:xfrm>
            <a:off x="4703375" y="909600"/>
            <a:ext cx="3468900" cy="332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9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32238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Bullet Points">
  <p:cSld name="CAPTION_ONLY_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3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body" idx="1"/>
          </p:nvPr>
        </p:nvSpPr>
        <p:spPr>
          <a:xfrm>
            <a:off x="938500" y="1246025"/>
            <a:ext cx="7172100" cy="303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162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50"/>
              <a:buChar char="●"/>
              <a:defRPr sz="1150">
                <a:solidFill>
                  <a:schemeClr val="lt1"/>
                </a:solidFill>
              </a:defRPr>
            </a:lvl1pPr>
            <a:lvl2pPr marL="914400" lvl="1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○"/>
              <a:defRPr sz="1150">
                <a:solidFill>
                  <a:schemeClr val="lt1"/>
                </a:solidFill>
              </a:defRPr>
            </a:lvl2pPr>
            <a:lvl3pPr marL="1371600" lvl="2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■"/>
              <a:defRPr sz="1150">
                <a:solidFill>
                  <a:schemeClr val="lt1"/>
                </a:solidFill>
              </a:defRPr>
            </a:lvl3pPr>
            <a:lvl4pPr marL="1828800" lvl="3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●"/>
              <a:defRPr sz="1150">
                <a:solidFill>
                  <a:schemeClr val="lt1"/>
                </a:solidFill>
              </a:defRPr>
            </a:lvl4pPr>
            <a:lvl5pPr marL="2286000" lvl="4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○"/>
              <a:defRPr sz="1150">
                <a:solidFill>
                  <a:schemeClr val="lt1"/>
                </a:solidFill>
              </a:defRPr>
            </a:lvl5pPr>
            <a:lvl6pPr marL="2743200" lvl="5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■"/>
              <a:defRPr sz="1150">
                <a:solidFill>
                  <a:schemeClr val="lt1"/>
                </a:solidFill>
              </a:defRPr>
            </a:lvl6pPr>
            <a:lvl7pPr marL="3200400" lvl="6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●"/>
              <a:defRPr sz="1150">
                <a:solidFill>
                  <a:schemeClr val="lt1"/>
                </a:solidFill>
              </a:defRPr>
            </a:lvl7pPr>
            <a:lvl8pPr marL="3657600" lvl="7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○"/>
              <a:defRPr sz="1150">
                <a:solidFill>
                  <a:schemeClr val="lt1"/>
                </a:solidFill>
              </a:defRPr>
            </a:lvl8pPr>
            <a:lvl9pPr marL="4114800" lvl="8" indent="-301625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150"/>
              <a:buChar char="■"/>
              <a:defRPr sz="115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SECTION_TITLE_AND_DESCRIPTION_1_1_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4"/>
          <p:cNvSpPr txBox="1">
            <a:spLocks noGrp="1"/>
          </p:cNvSpPr>
          <p:nvPr>
            <p:ph type="title"/>
          </p:nvPr>
        </p:nvSpPr>
        <p:spPr>
          <a:xfrm>
            <a:off x="3538497" y="26155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p14"/>
          <p:cNvSpPr txBox="1">
            <a:spLocks noGrp="1"/>
          </p:cNvSpPr>
          <p:nvPr>
            <p:ph type="subTitle" idx="1"/>
          </p:nvPr>
        </p:nvSpPr>
        <p:spPr>
          <a:xfrm>
            <a:off x="3538497" y="31480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14"/>
          <p:cNvSpPr txBox="1">
            <a:spLocks noGrp="1"/>
          </p:cNvSpPr>
          <p:nvPr>
            <p:ph type="title" idx="2"/>
          </p:nvPr>
        </p:nvSpPr>
        <p:spPr>
          <a:xfrm>
            <a:off x="6028553" y="26155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" name="Google Shape;48;p14"/>
          <p:cNvSpPr txBox="1">
            <a:spLocks noGrp="1"/>
          </p:cNvSpPr>
          <p:nvPr>
            <p:ph type="subTitle" idx="3"/>
          </p:nvPr>
        </p:nvSpPr>
        <p:spPr>
          <a:xfrm>
            <a:off x="6028553" y="31480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14"/>
          <p:cNvSpPr txBox="1">
            <a:spLocks noGrp="1"/>
          </p:cNvSpPr>
          <p:nvPr>
            <p:ph type="title" idx="4"/>
          </p:nvPr>
        </p:nvSpPr>
        <p:spPr>
          <a:xfrm>
            <a:off x="1048447" y="26155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0" name="Google Shape;50;p14"/>
          <p:cNvSpPr txBox="1">
            <a:spLocks noGrp="1"/>
          </p:cNvSpPr>
          <p:nvPr>
            <p:ph type="subTitle" idx="5"/>
          </p:nvPr>
        </p:nvSpPr>
        <p:spPr>
          <a:xfrm>
            <a:off x="1048447" y="31480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14"/>
          <p:cNvSpPr txBox="1">
            <a:spLocks noGrp="1"/>
          </p:cNvSpPr>
          <p:nvPr>
            <p:ph type="title" idx="6" hasCustomPrompt="1"/>
          </p:nvPr>
        </p:nvSpPr>
        <p:spPr>
          <a:xfrm>
            <a:off x="1048450" y="1770700"/>
            <a:ext cx="20670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" name="Google Shape;52;p14"/>
          <p:cNvSpPr txBox="1">
            <a:spLocks noGrp="1"/>
          </p:cNvSpPr>
          <p:nvPr>
            <p:ph type="title" idx="7" hasCustomPrompt="1"/>
          </p:nvPr>
        </p:nvSpPr>
        <p:spPr>
          <a:xfrm>
            <a:off x="3538500" y="1770700"/>
            <a:ext cx="20670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3" name="Google Shape;53;p14"/>
          <p:cNvSpPr txBox="1">
            <a:spLocks noGrp="1"/>
          </p:cNvSpPr>
          <p:nvPr>
            <p:ph type="title" idx="8" hasCustomPrompt="1"/>
          </p:nvPr>
        </p:nvSpPr>
        <p:spPr>
          <a:xfrm>
            <a:off x="6028550" y="1770700"/>
            <a:ext cx="20670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text">
  <p:cSld name="TITLE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 txBox="1">
            <a:spLocks noGrp="1"/>
          </p:cNvSpPr>
          <p:nvPr>
            <p:ph type="ctrTitle"/>
          </p:nvPr>
        </p:nvSpPr>
        <p:spPr>
          <a:xfrm>
            <a:off x="1273500" y="1369000"/>
            <a:ext cx="6597000" cy="210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 b="1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6" name="Google Shape;76;p19"/>
          <p:cNvSpPr txBox="1">
            <a:spLocks noGrp="1"/>
          </p:cNvSpPr>
          <p:nvPr>
            <p:ph type="subTitle" idx="1"/>
          </p:nvPr>
        </p:nvSpPr>
        <p:spPr>
          <a:xfrm>
            <a:off x="2481900" y="2519525"/>
            <a:ext cx="41802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ExtraBold"/>
              <a:buNone/>
              <a:defRPr sz="2800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"/>
              <a:buChar char="●"/>
              <a:defRPr sz="18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5" r:id="rId4"/>
    <p:sldLayoutId id="2147483658" r:id="rId5"/>
    <p:sldLayoutId id="2147483659" r:id="rId6"/>
    <p:sldLayoutId id="2147483660" r:id="rId7"/>
    <p:sldLayoutId id="2147483665" r:id="rId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38"/>
          <p:cNvSpPr txBox="1">
            <a:spLocks noGrp="1"/>
          </p:cNvSpPr>
          <p:nvPr>
            <p:ph type="ctrTitle"/>
          </p:nvPr>
        </p:nvSpPr>
        <p:spPr>
          <a:xfrm>
            <a:off x="1511837" y="1378948"/>
            <a:ext cx="6120323" cy="1215826"/>
          </a:xfrm>
          <a:prstGeom prst="rect">
            <a:avLst/>
          </a:prstGeom>
          <a:effectLst>
            <a:outerShdw blurRad="142875" dist="19050" dir="8760000" algn="bl" rotWithShape="0">
              <a:srgbClr val="76A5AF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cap="all" dirty="0"/>
              <a:t>Szoftverfejlesztés-és tesztelés</a:t>
            </a:r>
            <a:endParaRPr cap="all" dirty="0"/>
          </a:p>
        </p:txBody>
      </p:sp>
      <p:sp>
        <p:nvSpPr>
          <p:cNvPr id="163" name="Google Shape;163;p38"/>
          <p:cNvSpPr txBox="1">
            <a:spLocks noGrp="1"/>
          </p:cNvSpPr>
          <p:nvPr>
            <p:ph type="subTitle" idx="1"/>
          </p:nvPr>
        </p:nvSpPr>
        <p:spPr>
          <a:xfrm>
            <a:off x="3568403" y="3604532"/>
            <a:ext cx="2007193" cy="105595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Káldor Levente, Lőrincz Márton, Juhász Arnold, Csikós Bendegúz</a:t>
            </a:r>
            <a:endParaRPr dirty="0"/>
          </a:p>
        </p:txBody>
      </p:sp>
      <p:sp>
        <p:nvSpPr>
          <p:cNvPr id="164" name="Google Shape;164;p38"/>
          <p:cNvSpPr txBox="1">
            <a:spLocks noGrp="1"/>
          </p:cNvSpPr>
          <p:nvPr>
            <p:ph type="ctrTitle"/>
          </p:nvPr>
        </p:nvSpPr>
        <p:spPr>
          <a:xfrm>
            <a:off x="2941650" y="2624375"/>
            <a:ext cx="3260700" cy="464700"/>
          </a:xfrm>
          <a:prstGeom prst="rect">
            <a:avLst/>
          </a:prstGeom>
          <a:effectLst>
            <a:outerShdw blurRad="100013" dist="19050" dir="8460000" algn="bl" rotWithShape="0">
              <a:srgbClr val="76A5AF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200" b="0" dirty="0">
                <a:latin typeface="Montserrat ExtraLight"/>
                <a:ea typeface="Montserrat ExtraLight"/>
                <a:cs typeface="Montserrat ExtraLight"/>
                <a:sym typeface="Montserrat ExtraLight"/>
              </a:rPr>
              <a:t>Projekt Bemutató</a:t>
            </a:r>
            <a:endParaRPr sz="2200" b="0" dirty="0">
              <a:latin typeface="Montserrat ExtraLight"/>
              <a:ea typeface="Montserrat ExtraLight"/>
              <a:cs typeface="Montserrat ExtraLight"/>
              <a:sym typeface="Montserrat ExtraLight"/>
            </a:endParaRPr>
          </a:p>
        </p:txBody>
      </p:sp>
      <p:cxnSp>
        <p:nvCxnSpPr>
          <p:cNvPr id="165" name="Google Shape;165;p38"/>
          <p:cNvCxnSpPr/>
          <p:nvPr/>
        </p:nvCxnSpPr>
        <p:spPr>
          <a:xfrm>
            <a:off x="3190500" y="256517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0"/>
          <p:cNvSpPr txBox="1">
            <a:spLocks noGrp="1"/>
          </p:cNvSpPr>
          <p:nvPr>
            <p:ph type="title" idx="6"/>
          </p:nvPr>
        </p:nvSpPr>
        <p:spPr>
          <a:xfrm>
            <a:off x="2096947" y="1571597"/>
            <a:ext cx="20670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179" name="Google Shape;179;p40"/>
          <p:cNvSpPr txBox="1">
            <a:spLocks noGrp="1"/>
          </p:cNvSpPr>
          <p:nvPr>
            <p:ph type="title"/>
          </p:nvPr>
        </p:nvSpPr>
        <p:spPr>
          <a:xfrm>
            <a:off x="4794814" y="2416472"/>
            <a:ext cx="2301649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TESZTELÉS</a:t>
            </a:r>
            <a:endParaRPr dirty="0"/>
          </a:p>
        </p:txBody>
      </p:sp>
      <p:sp>
        <p:nvSpPr>
          <p:cNvPr id="180" name="Google Shape;180;p40"/>
          <p:cNvSpPr txBox="1">
            <a:spLocks noGrp="1"/>
          </p:cNvSpPr>
          <p:nvPr>
            <p:ph type="subTitle" idx="1"/>
          </p:nvPr>
        </p:nvSpPr>
        <p:spPr>
          <a:xfrm>
            <a:off x="4621410" y="2948972"/>
            <a:ext cx="2648455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Az általunk végzett szoftvertesztelés: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Parkolóautomata </a:t>
            </a:r>
          </a:p>
        </p:txBody>
      </p:sp>
      <p:sp>
        <p:nvSpPr>
          <p:cNvPr id="183" name="Google Shape;183;p40"/>
          <p:cNvSpPr txBox="1">
            <a:spLocks noGrp="1"/>
          </p:cNvSpPr>
          <p:nvPr>
            <p:ph type="title" idx="4"/>
          </p:nvPr>
        </p:nvSpPr>
        <p:spPr>
          <a:xfrm>
            <a:off x="2096944" y="2416472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FEJLESZTÉS</a:t>
            </a:r>
            <a:endParaRPr dirty="0"/>
          </a:p>
        </p:txBody>
      </p:sp>
      <p:sp>
        <p:nvSpPr>
          <p:cNvPr id="184" name="Google Shape;184;p40"/>
          <p:cNvSpPr txBox="1">
            <a:spLocks noGrp="1"/>
          </p:cNvSpPr>
          <p:nvPr>
            <p:ph type="subTitle" idx="5"/>
          </p:nvPr>
        </p:nvSpPr>
        <p:spPr>
          <a:xfrm>
            <a:off x="1664312" y="2948267"/>
            <a:ext cx="2932263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 </a:t>
            </a:r>
            <a:r>
              <a:rPr lang="en-US" dirty="0" err="1"/>
              <a:t>saját</a:t>
            </a:r>
            <a:r>
              <a:rPr lang="en-US" dirty="0"/>
              <a:t> </a:t>
            </a:r>
            <a:r>
              <a:rPr lang="en-US" dirty="0" err="1"/>
              <a:t>fejlesztésünk</a:t>
            </a:r>
            <a:r>
              <a:rPr lang="hu-HU" dirty="0"/>
              <a:t> bemutatása: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Könyvtári Rendszer</a:t>
            </a:r>
            <a:endParaRPr dirty="0"/>
          </a:p>
        </p:txBody>
      </p:sp>
      <p:sp>
        <p:nvSpPr>
          <p:cNvPr id="185" name="Google Shape;185;p40"/>
          <p:cNvSpPr txBox="1">
            <a:spLocks noGrp="1"/>
          </p:cNvSpPr>
          <p:nvPr>
            <p:ph type="title" idx="7"/>
          </p:nvPr>
        </p:nvSpPr>
        <p:spPr>
          <a:xfrm>
            <a:off x="4912139" y="1571597"/>
            <a:ext cx="20670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cxnSp>
        <p:nvCxnSpPr>
          <p:cNvPr id="187" name="Google Shape;187;p40"/>
          <p:cNvCxnSpPr/>
          <p:nvPr/>
        </p:nvCxnSpPr>
        <p:spPr>
          <a:xfrm>
            <a:off x="2931847" y="2347057"/>
            <a:ext cx="3972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cxnSp>
        <p:nvCxnSpPr>
          <p:cNvPr id="188" name="Google Shape;188;p40"/>
          <p:cNvCxnSpPr/>
          <p:nvPr/>
        </p:nvCxnSpPr>
        <p:spPr>
          <a:xfrm>
            <a:off x="5747039" y="2347057"/>
            <a:ext cx="3972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8" name="Google Shape;221;p45">
            <a:extLst>
              <a:ext uri="{FF2B5EF4-FFF2-40B4-BE49-F238E27FC236}">
                <a16:creationId xmlns:a16="http://schemas.microsoft.com/office/drawing/2014/main" id="{62CEDA1A-089A-E06D-0613-B11761F21B47}"/>
              </a:ext>
            </a:extLst>
          </p:cNvPr>
          <p:cNvSpPr txBox="1">
            <a:spLocks/>
          </p:cNvSpPr>
          <p:nvPr/>
        </p:nvSpPr>
        <p:spPr>
          <a:xfrm>
            <a:off x="2232772" y="834647"/>
            <a:ext cx="4629300" cy="94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  <a:defRPr sz="1800" b="0" i="0" u="none" strike="noStrike" cap="none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hu-HU" sz="2400" dirty="0">
                <a:solidFill>
                  <a:schemeClr val="accent1"/>
                </a:solidFill>
              </a:rPr>
              <a:t>AGENDA</a:t>
            </a:r>
          </a:p>
        </p:txBody>
      </p:sp>
      <p:cxnSp>
        <p:nvCxnSpPr>
          <p:cNvPr id="9" name="Google Shape;222;p45">
            <a:extLst>
              <a:ext uri="{FF2B5EF4-FFF2-40B4-BE49-F238E27FC236}">
                <a16:creationId xmlns:a16="http://schemas.microsoft.com/office/drawing/2014/main" id="{7506A4A8-1F4D-4ADF-B6DF-3A9C7E92C087}"/>
              </a:ext>
            </a:extLst>
          </p:cNvPr>
          <p:cNvCxnSpPr/>
          <p:nvPr/>
        </p:nvCxnSpPr>
        <p:spPr>
          <a:xfrm>
            <a:off x="3165922" y="1424440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grpSp>
        <p:nvGrpSpPr>
          <p:cNvPr id="2" name="Google Shape;2117;p64">
            <a:extLst>
              <a:ext uri="{FF2B5EF4-FFF2-40B4-BE49-F238E27FC236}">
                <a16:creationId xmlns:a16="http://schemas.microsoft.com/office/drawing/2014/main" id="{26D9CA5A-825C-88C6-7C38-EDA9184AF0DF}"/>
              </a:ext>
            </a:extLst>
          </p:cNvPr>
          <p:cNvGrpSpPr/>
          <p:nvPr/>
        </p:nvGrpSpPr>
        <p:grpSpPr>
          <a:xfrm>
            <a:off x="3123132" y="-2923461"/>
            <a:ext cx="2897735" cy="2027936"/>
            <a:chOff x="238125" y="1973675"/>
            <a:chExt cx="2558775" cy="1951825"/>
          </a:xfrm>
        </p:grpSpPr>
        <p:sp>
          <p:nvSpPr>
            <p:cNvPr id="3" name="Google Shape;2118;p64">
              <a:extLst>
                <a:ext uri="{FF2B5EF4-FFF2-40B4-BE49-F238E27FC236}">
                  <a16:creationId xmlns:a16="http://schemas.microsoft.com/office/drawing/2014/main" id="{8E03E08B-DB1A-9A13-25EA-1E182CBB10D0}"/>
                </a:ext>
              </a:extLst>
            </p:cNvPr>
            <p:cNvSpPr/>
            <p:nvPr/>
          </p:nvSpPr>
          <p:spPr>
            <a:xfrm>
              <a:off x="325550" y="2055000"/>
              <a:ext cx="2386075" cy="1459975"/>
            </a:xfrm>
            <a:custGeom>
              <a:avLst/>
              <a:gdLst/>
              <a:ahLst/>
              <a:cxnLst/>
              <a:rect l="l" t="t" r="r" b="b"/>
              <a:pathLst>
                <a:path w="95443" h="58399" extrusionOk="0">
                  <a:moveTo>
                    <a:pt x="94925" y="516"/>
                  </a:moveTo>
                  <a:lnTo>
                    <a:pt x="94925" y="57881"/>
                  </a:lnTo>
                  <a:lnTo>
                    <a:pt x="518" y="57881"/>
                  </a:lnTo>
                  <a:lnTo>
                    <a:pt x="518" y="516"/>
                  </a:lnTo>
                  <a:close/>
                  <a:moveTo>
                    <a:pt x="260" y="0"/>
                  </a:moveTo>
                  <a:cubicBezTo>
                    <a:pt x="118" y="0"/>
                    <a:pt x="1" y="115"/>
                    <a:pt x="1" y="259"/>
                  </a:cubicBezTo>
                  <a:lnTo>
                    <a:pt x="1" y="58140"/>
                  </a:lnTo>
                  <a:cubicBezTo>
                    <a:pt x="1" y="58282"/>
                    <a:pt x="118" y="58399"/>
                    <a:pt x="260" y="58399"/>
                  </a:cubicBezTo>
                  <a:lnTo>
                    <a:pt x="95184" y="58399"/>
                  </a:lnTo>
                  <a:cubicBezTo>
                    <a:pt x="95326" y="58399"/>
                    <a:pt x="95441" y="58282"/>
                    <a:pt x="95441" y="58140"/>
                  </a:cubicBezTo>
                  <a:lnTo>
                    <a:pt x="95441" y="259"/>
                  </a:lnTo>
                  <a:cubicBezTo>
                    <a:pt x="95442" y="115"/>
                    <a:pt x="95326" y="0"/>
                    <a:pt x="9518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2119;p64">
              <a:extLst>
                <a:ext uri="{FF2B5EF4-FFF2-40B4-BE49-F238E27FC236}">
                  <a16:creationId xmlns:a16="http://schemas.microsoft.com/office/drawing/2014/main" id="{AD28BA17-CAA7-D923-69E3-499C83724DDB}"/>
                </a:ext>
              </a:extLst>
            </p:cNvPr>
            <p:cNvSpPr/>
            <p:nvPr/>
          </p:nvSpPr>
          <p:spPr>
            <a:xfrm>
              <a:off x="1075325" y="3589700"/>
              <a:ext cx="884075" cy="335800"/>
            </a:xfrm>
            <a:custGeom>
              <a:avLst/>
              <a:gdLst/>
              <a:ahLst/>
              <a:cxnLst/>
              <a:rect l="l" t="t" r="r" b="b"/>
              <a:pathLst>
                <a:path w="35363" h="13432" extrusionOk="0">
                  <a:moveTo>
                    <a:pt x="28176" y="0"/>
                  </a:moveTo>
                  <a:cubicBezTo>
                    <a:pt x="28078" y="0"/>
                    <a:pt x="27996" y="34"/>
                    <a:pt x="27932" y="102"/>
                  </a:cubicBezTo>
                  <a:cubicBezTo>
                    <a:pt x="27790" y="253"/>
                    <a:pt x="27790" y="509"/>
                    <a:pt x="27932" y="1118"/>
                  </a:cubicBezTo>
                  <a:cubicBezTo>
                    <a:pt x="27985" y="1344"/>
                    <a:pt x="28047" y="1651"/>
                    <a:pt x="28119" y="2009"/>
                  </a:cubicBezTo>
                  <a:cubicBezTo>
                    <a:pt x="28420" y="3516"/>
                    <a:pt x="28876" y="5791"/>
                    <a:pt x="29651" y="7179"/>
                  </a:cubicBezTo>
                  <a:cubicBezTo>
                    <a:pt x="30394" y="8514"/>
                    <a:pt x="31835" y="9775"/>
                    <a:pt x="32886" y="10698"/>
                  </a:cubicBezTo>
                  <a:cubicBezTo>
                    <a:pt x="33194" y="10968"/>
                    <a:pt x="33463" y="11203"/>
                    <a:pt x="33660" y="11396"/>
                  </a:cubicBezTo>
                  <a:cubicBezTo>
                    <a:pt x="34197" y="11917"/>
                    <a:pt x="34530" y="12027"/>
                    <a:pt x="34711" y="12085"/>
                  </a:cubicBezTo>
                  <a:cubicBezTo>
                    <a:pt x="34724" y="12089"/>
                    <a:pt x="34738" y="12094"/>
                    <a:pt x="34750" y="12098"/>
                  </a:cubicBezTo>
                  <a:cubicBezTo>
                    <a:pt x="34781" y="12255"/>
                    <a:pt x="34798" y="12433"/>
                    <a:pt x="34708" y="12569"/>
                  </a:cubicBezTo>
                  <a:cubicBezTo>
                    <a:pt x="34621" y="12698"/>
                    <a:pt x="34443" y="12789"/>
                    <a:pt x="34176" y="12841"/>
                  </a:cubicBezTo>
                  <a:cubicBezTo>
                    <a:pt x="33894" y="12897"/>
                    <a:pt x="33576" y="12915"/>
                    <a:pt x="33188" y="12915"/>
                  </a:cubicBezTo>
                  <a:cubicBezTo>
                    <a:pt x="32866" y="12915"/>
                    <a:pt x="32496" y="12902"/>
                    <a:pt x="32057" y="12888"/>
                  </a:cubicBezTo>
                  <a:cubicBezTo>
                    <a:pt x="31412" y="12865"/>
                    <a:pt x="30607" y="12837"/>
                    <a:pt x="29586" y="12837"/>
                  </a:cubicBezTo>
                  <a:lnTo>
                    <a:pt x="8800" y="12837"/>
                  </a:lnTo>
                  <a:cubicBezTo>
                    <a:pt x="7800" y="12837"/>
                    <a:pt x="6833" y="12841"/>
                    <a:pt x="5939" y="12847"/>
                  </a:cubicBezTo>
                  <a:cubicBezTo>
                    <a:pt x="5199" y="12851"/>
                    <a:pt x="4507" y="12855"/>
                    <a:pt x="3887" y="12855"/>
                  </a:cubicBezTo>
                  <a:cubicBezTo>
                    <a:pt x="3179" y="12855"/>
                    <a:pt x="2567" y="12850"/>
                    <a:pt x="2090" y="12837"/>
                  </a:cubicBezTo>
                  <a:lnTo>
                    <a:pt x="1783" y="12828"/>
                  </a:lnTo>
                  <a:cubicBezTo>
                    <a:pt x="706" y="12798"/>
                    <a:pt x="700" y="12793"/>
                    <a:pt x="570" y="12668"/>
                  </a:cubicBezTo>
                  <a:cubicBezTo>
                    <a:pt x="526" y="12627"/>
                    <a:pt x="520" y="12598"/>
                    <a:pt x="520" y="12571"/>
                  </a:cubicBezTo>
                  <a:cubicBezTo>
                    <a:pt x="520" y="12511"/>
                    <a:pt x="556" y="12333"/>
                    <a:pt x="912" y="11971"/>
                  </a:cubicBezTo>
                  <a:cubicBezTo>
                    <a:pt x="1108" y="11772"/>
                    <a:pt x="1452" y="11550"/>
                    <a:pt x="1848" y="11293"/>
                  </a:cubicBezTo>
                  <a:cubicBezTo>
                    <a:pt x="2410" y="10928"/>
                    <a:pt x="3111" y="10473"/>
                    <a:pt x="3670" y="9890"/>
                  </a:cubicBezTo>
                  <a:lnTo>
                    <a:pt x="4006" y="9544"/>
                  </a:lnTo>
                  <a:cubicBezTo>
                    <a:pt x="4870" y="8657"/>
                    <a:pt x="5947" y="7555"/>
                    <a:pt x="6528" y="6084"/>
                  </a:cubicBezTo>
                  <a:cubicBezTo>
                    <a:pt x="7009" y="4866"/>
                    <a:pt x="7250" y="2705"/>
                    <a:pt x="7410" y="1274"/>
                  </a:cubicBezTo>
                  <a:cubicBezTo>
                    <a:pt x="7465" y="775"/>
                    <a:pt x="7515" y="343"/>
                    <a:pt x="7558" y="87"/>
                  </a:cubicBezTo>
                  <a:lnTo>
                    <a:pt x="7048" y="0"/>
                  </a:lnTo>
                  <a:cubicBezTo>
                    <a:pt x="7002" y="269"/>
                    <a:pt x="6956" y="688"/>
                    <a:pt x="6896" y="1217"/>
                  </a:cubicBezTo>
                  <a:cubicBezTo>
                    <a:pt x="6739" y="2621"/>
                    <a:pt x="6503" y="4741"/>
                    <a:pt x="6047" y="5895"/>
                  </a:cubicBezTo>
                  <a:cubicBezTo>
                    <a:pt x="5506" y="7268"/>
                    <a:pt x="4512" y="8286"/>
                    <a:pt x="3637" y="9183"/>
                  </a:cubicBezTo>
                  <a:lnTo>
                    <a:pt x="3298" y="9533"/>
                  </a:lnTo>
                  <a:cubicBezTo>
                    <a:pt x="2779" y="10073"/>
                    <a:pt x="2136" y="10490"/>
                    <a:pt x="1568" y="10859"/>
                  </a:cubicBezTo>
                  <a:cubicBezTo>
                    <a:pt x="1145" y="11133"/>
                    <a:pt x="780" y="11369"/>
                    <a:pt x="546" y="11608"/>
                  </a:cubicBezTo>
                  <a:cubicBezTo>
                    <a:pt x="172" y="11988"/>
                    <a:pt x="0" y="12296"/>
                    <a:pt x="5" y="12578"/>
                  </a:cubicBezTo>
                  <a:cubicBezTo>
                    <a:pt x="6" y="12752"/>
                    <a:pt x="78" y="12911"/>
                    <a:pt x="211" y="13040"/>
                  </a:cubicBezTo>
                  <a:cubicBezTo>
                    <a:pt x="492" y="13309"/>
                    <a:pt x="611" y="13312"/>
                    <a:pt x="1770" y="13345"/>
                  </a:cubicBezTo>
                  <a:lnTo>
                    <a:pt x="2075" y="13354"/>
                  </a:lnTo>
                  <a:cubicBezTo>
                    <a:pt x="2547" y="13367"/>
                    <a:pt x="3149" y="13372"/>
                    <a:pt x="3843" y="13372"/>
                  </a:cubicBezTo>
                  <a:cubicBezTo>
                    <a:pt x="4476" y="13372"/>
                    <a:pt x="5185" y="13368"/>
                    <a:pt x="5944" y="13364"/>
                  </a:cubicBezTo>
                  <a:cubicBezTo>
                    <a:pt x="6836" y="13358"/>
                    <a:pt x="7802" y="13354"/>
                    <a:pt x="8802" y="13354"/>
                  </a:cubicBezTo>
                  <a:lnTo>
                    <a:pt x="29586" y="13354"/>
                  </a:lnTo>
                  <a:cubicBezTo>
                    <a:pt x="30598" y="13354"/>
                    <a:pt x="31397" y="13381"/>
                    <a:pt x="32040" y="13403"/>
                  </a:cubicBezTo>
                  <a:cubicBezTo>
                    <a:pt x="32484" y="13420"/>
                    <a:pt x="32860" y="13432"/>
                    <a:pt x="33192" y="13432"/>
                  </a:cubicBezTo>
                  <a:cubicBezTo>
                    <a:pt x="33609" y="13432"/>
                    <a:pt x="33956" y="13412"/>
                    <a:pt x="34274" y="13348"/>
                  </a:cubicBezTo>
                  <a:cubicBezTo>
                    <a:pt x="34682" y="13269"/>
                    <a:pt x="34972" y="13103"/>
                    <a:pt x="35137" y="12856"/>
                  </a:cubicBezTo>
                  <a:cubicBezTo>
                    <a:pt x="35363" y="12517"/>
                    <a:pt x="35282" y="12127"/>
                    <a:pt x="35252" y="11980"/>
                  </a:cubicBezTo>
                  <a:cubicBezTo>
                    <a:pt x="35195" y="11701"/>
                    <a:pt x="35007" y="11639"/>
                    <a:pt x="34871" y="11593"/>
                  </a:cubicBezTo>
                  <a:cubicBezTo>
                    <a:pt x="34721" y="11545"/>
                    <a:pt x="34470" y="11463"/>
                    <a:pt x="34019" y="11025"/>
                  </a:cubicBezTo>
                  <a:cubicBezTo>
                    <a:pt x="33815" y="10828"/>
                    <a:pt x="33540" y="10585"/>
                    <a:pt x="33225" y="10309"/>
                  </a:cubicBezTo>
                  <a:cubicBezTo>
                    <a:pt x="32202" y="9412"/>
                    <a:pt x="30800" y="8183"/>
                    <a:pt x="30101" y="6928"/>
                  </a:cubicBezTo>
                  <a:cubicBezTo>
                    <a:pt x="29367" y="5611"/>
                    <a:pt x="28902" y="3294"/>
                    <a:pt x="28625" y="1909"/>
                  </a:cubicBezTo>
                  <a:cubicBezTo>
                    <a:pt x="28552" y="1542"/>
                    <a:pt x="28489" y="1231"/>
                    <a:pt x="28435" y="1000"/>
                  </a:cubicBezTo>
                  <a:cubicBezTo>
                    <a:pt x="28376" y="749"/>
                    <a:pt x="28353" y="598"/>
                    <a:pt x="28346" y="510"/>
                  </a:cubicBezTo>
                  <a:cubicBezTo>
                    <a:pt x="28373" y="500"/>
                    <a:pt x="28400" y="486"/>
                    <a:pt x="28422" y="468"/>
                  </a:cubicBezTo>
                  <a:lnTo>
                    <a:pt x="28537" y="268"/>
                  </a:lnTo>
                  <a:lnTo>
                    <a:pt x="28247" y="234"/>
                  </a:lnTo>
                  <a:lnTo>
                    <a:pt x="28111" y="56"/>
                  </a:lnTo>
                  <a:cubicBezTo>
                    <a:pt x="28153" y="24"/>
                    <a:pt x="28202" y="8"/>
                    <a:pt x="28254" y="8"/>
                  </a:cubicBezTo>
                  <a:cubicBezTo>
                    <a:pt x="28256" y="8"/>
                    <a:pt x="28258" y="8"/>
                    <a:pt x="28261" y="8"/>
                  </a:cubicBezTo>
                  <a:cubicBezTo>
                    <a:pt x="28231" y="3"/>
                    <a:pt x="28203" y="0"/>
                    <a:pt x="281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2120;p64">
              <a:extLst>
                <a:ext uri="{FF2B5EF4-FFF2-40B4-BE49-F238E27FC236}">
                  <a16:creationId xmlns:a16="http://schemas.microsoft.com/office/drawing/2014/main" id="{B23BFE4A-C12C-0DBB-C792-B10A61A2B37D}"/>
                </a:ext>
              </a:extLst>
            </p:cNvPr>
            <p:cNvSpPr/>
            <p:nvPr/>
          </p:nvSpPr>
          <p:spPr>
            <a:xfrm>
              <a:off x="238125" y="1973675"/>
              <a:ext cx="2558775" cy="1623600"/>
            </a:xfrm>
            <a:custGeom>
              <a:avLst/>
              <a:gdLst/>
              <a:ahLst/>
              <a:cxnLst/>
              <a:rect l="l" t="t" r="r" b="b"/>
              <a:pathLst>
                <a:path w="102351" h="64944" extrusionOk="0">
                  <a:moveTo>
                    <a:pt x="99608" y="516"/>
                  </a:moveTo>
                  <a:cubicBezTo>
                    <a:pt x="100838" y="516"/>
                    <a:pt x="101835" y="1513"/>
                    <a:pt x="101835" y="2744"/>
                  </a:cubicBezTo>
                  <a:lnTo>
                    <a:pt x="101835" y="62200"/>
                  </a:lnTo>
                  <a:cubicBezTo>
                    <a:pt x="101833" y="63429"/>
                    <a:pt x="100836" y="64425"/>
                    <a:pt x="99608" y="64426"/>
                  </a:cubicBezTo>
                  <a:lnTo>
                    <a:pt x="2743" y="64426"/>
                  </a:lnTo>
                  <a:cubicBezTo>
                    <a:pt x="1514" y="64425"/>
                    <a:pt x="519" y="63429"/>
                    <a:pt x="517" y="62200"/>
                  </a:cubicBezTo>
                  <a:lnTo>
                    <a:pt x="517" y="2744"/>
                  </a:lnTo>
                  <a:cubicBezTo>
                    <a:pt x="519" y="1515"/>
                    <a:pt x="1514" y="518"/>
                    <a:pt x="2743" y="516"/>
                  </a:cubicBezTo>
                  <a:close/>
                  <a:moveTo>
                    <a:pt x="2743" y="1"/>
                  </a:moveTo>
                  <a:cubicBezTo>
                    <a:pt x="1230" y="1"/>
                    <a:pt x="0" y="1229"/>
                    <a:pt x="0" y="2744"/>
                  </a:cubicBezTo>
                  <a:lnTo>
                    <a:pt x="0" y="62200"/>
                  </a:lnTo>
                  <a:cubicBezTo>
                    <a:pt x="0" y="63713"/>
                    <a:pt x="1230" y="64943"/>
                    <a:pt x="2743" y="64943"/>
                  </a:cubicBezTo>
                  <a:lnTo>
                    <a:pt x="99608" y="64943"/>
                  </a:lnTo>
                  <a:cubicBezTo>
                    <a:pt x="101120" y="64943"/>
                    <a:pt x="102351" y="63713"/>
                    <a:pt x="102351" y="62200"/>
                  </a:cubicBezTo>
                  <a:lnTo>
                    <a:pt x="102351" y="2744"/>
                  </a:lnTo>
                  <a:cubicBezTo>
                    <a:pt x="102351" y="1228"/>
                    <a:pt x="101123" y="1"/>
                    <a:pt x="9960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2121;p64">
              <a:extLst>
                <a:ext uri="{FF2B5EF4-FFF2-40B4-BE49-F238E27FC236}">
                  <a16:creationId xmlns:a16="http://schemas.microsoft.com/office/drawing/2014/main" id="{706416A2-2A5D-8254-61BC-9BC83AD8FF54}"/>
                </a:ext>
              </a:extLst>
            </p:cNvPr>
            <p:cNvSpPr/>
            <p:nvPr/>
          </p:nvSpPr>
          <p:spPr>
            <a:xfrm>
              <a:off x="255425" y="1991200"/>
              <a:ext cx="2524175" cy="1588500"/>
            </a:xfrm>
            <a:custGeom>
              <a:avLst/>
              <a:gdLst/>
              <a:ahLst/>
              <a:cxnLst/>
              <a:rect l="l" t="t" r="r" b="b"/>
              <a:pathLst>
                <a:path w="100967" h="63540" extrusionOk="0">
                  <a:moveTo>
                    <a:pt x="98640" y="518"/>
                  </a:moveTo>
                  <a:cubicBezTo>
                    <a:pt x="99639" y="518"/>
                    <a:pt x="100449" y="1328"/>
                    <a:pt x="100449" y="2328"/>
                  </a:cubicBezTo>
                  <a:lnTo>
                    <a:pt x="100449" y="61214"/>
                  </a:lnTo>
                  <a:cubicBezTo>
                    <a:pt x="100448" y="62212"/>
                    <a:pt x="99639" y="63022"/>
                    <a:pt x="98640" y="63024"/>
                  </a:cubicBezTo>
                  <a:lnTo>
                    <a:pt x="2328" y="63024"/>
                  </a:lnTo>
                  <a:cubicBezTo>
                    <a:pt x="1328" y="63022"/>
                    <a:pt x="519" y="62212"/>
                    <a:pt x="517" y="61214"/>
                  </a:cubicBezTo>
                  <a:lnTo>
                    <a:pt x="517" y="2328"/>
                  </a:lnTo>
                  <a:cubicBezTo>
                    <a:pt x="519" y="1328"/>
                    <a:pt x="1328" y="519"/>
                    <a:pt x="2328" y="518"/>
                  </a:cubicBezTo>
                  <a:close/>
                  <a:moveTo>
                    <a:pt x="2328" y="1"/>
                  </a:moveTo>
                  <a:cubicBezTo>
                    <a:pt x="1042" y="2"/>
                    <a:pt x="2" y="1043"/>
                    <a:pt x="0" y="2328"/>
                  </a:cubicBezTo>
                  <a:lnTo>
                    <a:pt x="0" y="61214"/>
                  </a:lnTo>
                  <a:cubicBezTo>
                    <a:pt x="2" y="62498"/>
                    <a:pt x="1042" y="63538"/>
                    <a:pt x="2328" y="63540"/>
                  </a:cubicBezTo>
                  <a:lnTo>
                    <a:pt x="98640" y="63540"/>
                  </a:lnTo>
                  <a:cubicBezTo>
                    <a:pt x="99925" y="63538"/>
                    <a:pt x="100965" y="62498"/>
                    <a:pt x="100967" y="61214"/>
                  </a:cubicBezTo>
                  <a:lnTo>
                    <a:pt x="100967" y="2328"/>
                  </a:lnTo>
                  <a:cubicBezTo>
                    <a:pt x="100967" y="1043"/>
                    <a:pt x="99925" y="1"/>
                    <a:pt x="9864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2122;p64">
              <a:extLst>
                <a:ext uri="{FF2B5EF4-FFF2-40B4-BE49-F238E27FC236}">
                  <a16:creationId xmlns:a16="http://schemas.microsoft.com/office/drawing/2014/main" id="{4821A454-52E2-D3EA-9228-90127F69D3EF}"/>
                </a:ext>
              </a:extLst>
            </p:cNvPr>
            <p:cNvSpPr/>
            <p:nvPr/>
          </p:nvSpPr>
          <p:spPr>
            <a:xfrm>
              <a:off x="1091150" y="3888075"/>
              <a:ext cx="856825" cy="25"/>
            </a:xfrm>
            <a:custGeom>
              <a:avLst/>
              <a:gdLst/>
              <a:ahLst/>
              <a:cxnLst/>
              <a:rect l="l" t="t" r="r" b="b"/>
              <a:pathLst>
                <a:path w="34273" h="1" extrusionOk="0">
                  <a:moveTo>
                    <a:pt x="1" y="0"/>
                  </a:moveTo>
                  <a:lnTo>
                    <a:pt x="34272" y="0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2123;p64">
              <a:extLst>
                <a:ext uri="{FF2B5EF4-FFF2-40B4-BE49-F238E27FC236}">
                  <a16:creationId xmlns:a16="http://schemas.microsoft.com/office/drawing/2014/main" id="{70180B16-9FDC-3912-F9EC-EA315C4028D3}"/>
                </a:ext>
              </a:extLst>
            </p:cNvPr>
            <p:cNvSpPr/>
            <p:nvPr/>
          </p:nvSpPr>
          <p:spPr>
            <a:xfrm>
              <a:off x="1091125" y="3881600"/>
              <a:ext cx="856850" cy="12925"/>
            </a:xfrm>
            <a:custGeom>
              <a:avLst/>
              <a:gdLst/>
              <a:ahLst/>
              <a:cxnLst/>
              <a:rect l="l" t="t" r="r" b="b"/>
              <a:pathLst>
                <a:path w="34274" h="517" extrusionOk="0">
                  <a:moveTo>
                    <a:pt x="0" y="1"/>
                  </a:moveTo>
                  <a:lnTo>
                    <a:pt x="0" y="516"/>
                  </a:lnTo>
                  <a:lnTo>
                    <a:pt x="34273" y="516"/>
                  </a:lnTo>
                  <a:lnTo>
                    <a:pt x="3427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1" name="Kép 10" descr="A képen szöveg, képernyőkép, Betűtípus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978F26D6-B081-330A-8D4D-67D66A77D4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9283" y="-2825395"/>
            <a:ext cx="2663677" cy="1476789"/>
          </a:xfrm>
          <a:prstGeom prst="rect">
            <a:avLst/>
          </a:prstGeom>
        </p:spPr>
      </p:pic>
      <p:sp>
        <p:nvSpPr>
          <p:cNvPr id="14" name="Google Shape;207;p43">
            <a:extLst>
              <a:ext uri="{FF2B5EF4-FFF2-40B4-BE49-F238E27FC236}">
                <a16:creationId xmlns:a16="http://schemas.microsoft.com/office/drawing/2014/main" id="{80191F99-9331-6427-CED0-9E767FC8B1EF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-3287635" y="3287500"/>
            <a:ext cx="2412900" cy="931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15" name="Google Shape;206;p43">
            <a:extLst>
              <a:ext uri="{FF2B5EF4-FFF2-40B4-BE49-F238E27FC236}">
                <a16:creationId xmlns:a16="http://schemas.microsoft.com/office/drawing/2014/main" id="{64E04C81-B255-BE88-6988-1E0B575BF417}"/>
              </a:ext>
            </a:extLst>
          </p:cNvPr>
          <p:cNvSpPr txBox="1">
            <a:spLocks/>
          </p:cNvSpPr>
          <p:nvPr/>
        </p:nvSpPr>
        <p:spPr>
          <a:xfrm>
            <a:off x="9929181" y="3177750"/>
            <a:ext cx="3220615" cy="59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  <a:defRPr sz="1800" b="0" i="0" u="none" strike="noStrike" cap="none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hu-HU"/>
              <a:t>FEJLESZTÉS</a:t>
            </a:r>
            <a:endParaRPr lang="hu-HU" dirty="0"/>
          </a:p>
        </p:txBody>
      </p:sp>
      <p:sp>
        <p:nvSpPr>
          <p:cNvPr id="16" name="Google Shape;208;p43">
            <a:extLst>
              <a:ext uri="{FF2B5EF4-FFF2-40B4-BE49-F238E27FC236}">
                <a16:creationId xmlns:a16="http://schemas.microsoft.com/office/drawing/2014/main" id="{AC4A8635-B0FA-A016-4E69-B280F31A6DFA}"/>
              </a:ext>
            </a:extLst>
          </p:cNvPr>
          <p:cNvSpPr txBox="1">
            <a:spLocks/>
          </p:cNvSpPr>
          <p:nvPr/>
        </p:nvSpPr>
        <p:spPr>
          <a:xfrm>
            <a:off x="9929182" y="3720650"/>
            <a:ext cx="3068700" cy="46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/>
            <a:r>
              <a:rPr lang="hu-HU"/>
              <a:t>Kis könyvtárak automatizálása, papírmentesítés.</a:t>
            </a:r>
            <a:endParaRPr lang="hu-HU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3"/>
          <p:cNvSpPr txBox="1">
            <a:spLocks noGrp="1"/>
          </p:cNvSpPr>
          <p:nvPr>
            <p:ph type="title"/>
          </p:nvPr>
        </p:nvSpPr>
        <p:spPr>
          <a:xfrm>
            <a:off x="3762669" y="3177750"/>
            <a:ext cx="3220615" cy="59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FEJLESZTÉS</a:t>
            </a:r>
            <a:endParaRPr dirty="0"/>
          </a:p>
        </p:txBody>
      </p:sp>
      <p:sp>
        <p:nvSpPr>
          <p:cNvPr id="207" name="Google Shape;207;p43"/>
          <p:cNvSpPr txBox="1">
            <a:spLocks noGrp="1"/>
          </p:cNvSpPr>
          <p:nvPr>
            <p:ph type="title" idx="2"/>
          </p:nvPr>
        </p:nvSpPr>
        <p:spPr>
          <a:xfrm>
            <a:off x="1048270" y="3287500"/>
            <a:ext cx="2412900" cy="931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208" name="Google Shape;208;p43"/>
          <p:cNvSpPr txBox="1">
            <a:spLocks noGrp="1"/>
          </p:cNvSpPr>
          <p:nvPr>
            <p:ph type="subTitle" idx="1"/>
          </p:nvPr>
        </p:nvSpPr>
        <p:spPr>
          <a:xfrm>
            <a:off x="3762670" y="3720650"/>
            <a:ext cx="30687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hu-HU" dirty="0"/>
              <a:t>Kis könyvtárak automatizálása, papírmentesítés.</a:t>
            </a:r>
            <a:endParaRPr dirty="0"/>
          </a:p>
        </p:txBody>
      </p:sp>
      <p:cxnSp>
        <p:nvCxnSpPr>
          <p:cNvPr id="209" name="Google Shape;209;p43"/>
          <p:cNvCxnSpPr/>
          <p:nvPr/>
        </p:nvCxnSpPr>
        <p:spPr>
          <a:xfrm>
            <a:off x="3610750" y="3253297"/>
            <a:ext cx="0" cy="99990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grpSp>
        <p:nvGrpSpPr>
          <p:cNvPr id="2" name="Google Shape;2117;p64">
            <a:extLst>
              <a:ext uri="{FF2B5EF4-FFF2-40B4-BE49-F238E27FC236}">
                <a16:creationId xmlns:a16="http://schemas.microsoft.com/office/drawing/2014/main" id="{B898562E-82A7-BDE1-F075-CF96033C0764}"/>
              </a:ext>
            </a:extLst>
          </p:cNvPr>
          <p:cNvGrpSpPr/>
          <p:nvPr/>
        </p:nvGrpSpPr>
        <p:grpSpPr>
          <a:xfrm>
            <a:off x="3123132" y="660400"/>
            <a:ext cx="2897735" cy="2027936"/>
            <a:chOff x="238125" y="1973675"/>
            <a:chExt cx="2558775" cy="1951825"/>
          </a:xfrm>
        </p:grpSpPr>
        <p:sp>
          <p:nvSpPr>
            <p:cNvPr id="3" name="Google Shape;2118;p64">
              <a:extLst>
                <a:ext uri="{FF2B5EF4-FFF2-40B4-BE49-F238E27FC236}">
                  <a16:creationId xmlns:a16="http://schemas.microsoft.com/office/drawing/2014/main" id="{2D3A211D-F30F-3048-88DB-E6F289398BD7}"/>
                </a:ext>
              </a:extLst>
            </p:cNvPr>
            <p:cNvSpPr/>
            <p:nvPr/>
          </p:nvSpPr>
          <p:spPr>
            <a:xfrm>
              <a:off x="325550" y="2055000"/>
              <a:ext cx="2386075" cy="1459975"/>
            </a:xfrm>
            <a:custGeom>
              <a:avLst/>
              <a:gdLst/>
              <a:ahLst/>
              <a:cxnLst/>
              <a:rect l="l" t="t" r="r" b="b"/>
              <a:pathLst>
                <a:path w="95443" h="58399" extrusionOk="0">
                  <a:moveTo>
                    <a:pt x="94925" y="516"/>
                  </a:moveTo>
                  <a:lnTo>
                    <a:pt x="94925" y="57881"/>
                  </a:lnTo>
                  <a:lnTo>
                    <a:pt x="518" y="57881"/>
                  </a:lnTo>
                  <a:lnTo>
                    <a:pt x="518" y="516"/>
                  </a:lnTo>
                  <a:close/>
                  <a:moveTo>
                    <a:pt x="260" y="0"/>
                  </a:moveTo>
                  <a:cubicBezTo>
                    <a:pt x="118" y="0"/>
                    <a:pt x="1" y="115"/>
                    <a:pt x="1" y="259"/>
                  </a:cubicBezTo>
                  <a:lnTo>
                    <a:pt x="1" y="58140"/>
                  </a:lnTo>
                  <a:cubicBezTo>
                    <a:pt x="1" y="58282"/>
                    <a:pt x="118" y="58399"/>
                    <a:pt x="260" y="58399"/>
                  </a:cubicBezTo>
                  <a:lnTo>
                    <a:pt x="95184" y="58399"/>
                  </a:lnTo>
                  <a:cubicBezTo>
                    <a:pt x="95326" y="58399"/>
                    <a:pt x="95441" y="58282"/>
                    <a:pt x="95441" y="58140"/>
                  </a:cubicBezTo>
                  <a:lnTo>
                    <a:pt x="95441" y="259"/>
                  </a:lnTo>
                  <a:cubicBezTo>
                    <a:pt x="95442" y="115"/>
                    <a:pt x="95326" y="0"/>
                    <a:pt x="9518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2119;p64">
              <a:extLst>
                <a:ext uri="{FF2B5EF4-FFF2-40B4-BE49-F238E27FC236}">
                  <a16:creationId xmlns:a16="http://schemas.microsoft.com/office/drawing/2014/main" id="{CCE30D40-603D-D075-A719-7B139076660D}"/>
                </a:ext>
              </a:extLst>
            </p:cNvPr>
            <p:cNvSpPr/>
            <p:nvPr/>
          </p:nvSpPr>
          <p:spPr>
            <a:xfrm>
              <a:off x="1075325" y="3589700"/>
              <a:ext cx="884075" cy="335800"/>
            </a:xfrm>
            <a:custGeom>
              <a:avLst/>
              <a:gdLst/>
              <a:ahLst/>
              <a:cxnLst/>
              <a:rect l="l" t="t" r="r" b="b"/>
              <a:pathLst>
                <a:path w="35363" h="13432" extrusionOk="0">
                  <a:moveTo>
                    <a:pt x="28176" y="0"/>
                  </a:moveTo>
                  <a:cubicBezTo>
                    <a:pt x="28078" y="0"/>
                    <a:pt x="27996" y="34"/>
                    <a:pt x="27932" y="102"/>
                  </a:cubicBezTo>
                  <a:cubicBezTo>
                    <a:pt x="27790" y="253"/>
                    <a:pt x="27790" y="509"/>
                    <a:pt x="27932" y="1118"/>
                  </a:cubicBezTo>
                  <a:cubicBezTo>
                    <a:pt x="27985" y="1344"/>
                    <a:pt x="28047" y="1651"/>
                    <a:pt x="28119" y="2009"/>
                  </a:cubicBezTo>
                  <a:cubicBezTo>
                    <a:pt x="28420" y="3516"/>
                    <a:pt x="28876" y="5791"/>
                    <a:pt x="29651" y="7179"/>
                  </a:cubicBezTo>
                  <a:cubicBezTo>
                    <a:pt x="30394" y="8514"/>
                    <a:pt x="31835" y="9775"/>
                    <a:pt x="32886" y="10698"/>
                  </a:cubicBezTo>
                  <a:cubicBezTo>
                    <a:pt x="33194" y="10968"/>
                    <a:pt x="33463" y="11203"/>
                    <a:pt x="33660" y="11396"/>
                  </a:cubicBezTo>
                  <a:cubicBezTo>
                    <a:pt x="34197" y="11917"/>
                    <a:pt x="34530" y="12027"/>
                    <a:pt x="34711" y="12085"/>
                  </a:cubicBezTo>
                  <a:cubicBezTo>
                    <a:pt x="34724" y="12089"/>
                    <a:pt x="34738" y="12094"/>
                    <a:pt x="34750" y="12098"/>
                  </a:cubicBezTo>
                  <a:cubicBezTo>
                    <a:pt x="34781" y="12255"/>
                    <a:pt x="34798" y="12433"/>
                    <a:pt x="34708" y="12569"/>
                  </a:cubicBezTo>
                  <a:cubicBezTo>
                    <a:pt x="34621" y="12698"/>
                    <a:pt x="34443" y="12789"/>
                    <a:pt x="34176" y="12841"/>
                  </a:cubicBezTo>
                  <a:cubicBezTo>
                    <a:pt x="33894" y="12897"/>
                    <a:pt x="33576" y="12915"/>
                    <a:pt x="33188" y="12915"/>
                  </a:cubicBezTo>
                  <a:cubicBezTo>
                    <a:pt x="32866" y="12915"/>
                    <a:pt x="32496" y="12902"/>
                    <a:pt x="32057" y="12888"/>
                  </a:cubicBezTo>
                  <a:cubicBezTo>
                    <a:pt x="31412" y="12865"/>
                    <a:pt x="30607" y="12837"/>
                    <a:pt x="29586" y="12837"/>
                  </a:cubicBezTo>
                  <a:lnTo>
                    <a:pt x="8800" y="12837"/>
                  </a:lnTo>
                  <a:cubicBezTo>
                    <a:pt x="7800" y="12837"/>
                    <a:pt x="6833" y="12841"/>
                    <a:pt x="5939" y="12847"/>
                  </a:cubicBezTo>
                  <a:cubicBezTo>
                    <a:pt x="5199" y="12851"/>
                    <a:pt x="4507" y="12855"/>
                    <a:pt x="3887" y="12855"/>
                  </a:cubicBezTo>
                  <a:cubicBezTo>
                    <a:pt x="3179" y="12855"/>
                    <a:pt x="2567" y="12850"/>
                    <a:pt x="2090" y="12837"/>
                  </a:cubicBezTo>
                  <a:lnTo>
                    <a:pt x="1783" y="12828"/>
                  </a:lnTo>
                  <a:cubicBezTo>
                    <a:pt x="706" y="12798"/>
                    <a:pt x="700" y="12793"/>
                    <a:pt x="570" y="12668"/>
                  </a:cubicBezTo>
                  <a:cubicBezTo>
                    <a:pt x="526" y="12627"/>
                    <a:pt x="520" y="12598"/>
                    <a:pt x="520" y="12571"/>
                  </a:cubicBezTo>
                  <a:cubicBezTo>
                    <a:pt x="520" y="12511"/>
                    <a:pt x="556" y="12333"/>
                    <a:pt x="912" y="11971"/>
                  </a:cubicBezTo>
                  <a:cubicBezTo>
                    <a:pt x="1108" y="11772"/>
                    <a:pt x="1452" y="11550"/>
                    <a:pt x="1848" y="11293"/>
                  </a:cubicBezTo>
                  <a:cubicBezTo>
                    <a:pt x="2410" y="10928"/>
                    <a:pt x="3111" y="10473"/>
                    <a:pt x="3670" y="9890"/>
                  </a:cubicBezTo>
                  <a:lnTo>
                    <a:pt x="4006" y="9544"/>
                  </a:lnTo>
                  <a:cubicBezTo>
                    <a:pt x="4870" y="8657"/>
                    <a:pt x="5947" y="7555"/>
                    <a:pt x="6528" y="6084"/>
                  </a:cubicBezTo>
                  <a:cubicBezTo>
                    <a:pt x="7009" y="4866"/>
                    <a:pt x="7250" y="2705"/>
                    <a:pt x="7410" y="1274"/>
                  </a:cubicBezTo>
                  <a:cubicBezTo>
                    <a:pt x="7465" y="775"/>
                    <a:pt x="7515" y="343"/>
                    <a:pt x="7558" y="87"/>
                  </a:cubicBezTo>
                  <a:lnTo>
                    <a:pt x="7048" y="0"/>
                  </a:lnTo>
                  <a:cubicBezTo>
                    <a:pt x="7002" y="269"/>
                    <a:pt x="6956" y="688"/>
                    <a:pt x="6896" y="1217"/>
                  </a:cubicBezTo>
                  <a:cubicBezTo>
                    <a:pt x="6739" y="2621"/>
                    <a:pt x="6503" y="4741"/>
                    <a:pt x="6047" y="5895"/>
                  </a:cubicBezTo>
                  <a:cubicBezTo>
                    <a:pt x="5506" y="7268"/>
                    <a:pt x="4512" y="8286"/>
                    <a:pt x="3637" y="9183"/>
                  </a:cubicBezTo>
                  <a:lnTo>
                    <a:pt x="3298" y="9533"/>
                  </a:lnTo>
                  <a:cubicBezTo>
                    <a:pt x="2779" y="10073"/>
                    <a:pt x="2136" y="10490"/>
                    <a:pt x="1568" y="10859"/>
                  </a:cubicBezTo>
                  <a:cubicBezTo>
                    <a:pt x="1145" y="11133"/>
                    <a:pt x="780" y="11369"/>
                    <a:pt x="546" y="11608"/>
                  </a:cubicBezTo>
                  <a:cubicBezTo>
                    <a:pt x="172" y="11988"/>
                    <a:pt x="0" y="12296"/>
                    <a:pt x="5" y="12578"/>
                  </a:cubicBezTo>
                  <a:cubicBezTo>
                    <a:pt x="6" y="12752"/>
                    <a:pt x="78" y="12911"/>
                    <a:pt x="211" y="13040"/>
                  </a:cubicBezTo>
                  <a:cubicBezTo>
                    <a:pt x="492" y="13309"/>
                    <a:pt x="611" y="13312"/>
                    <a:pt x="1770" y="13345"/>
                  </a:cubicBezTo>
                  <a:lnTo>
                    <a:pt x="2075" y="13354"/>
                  </a:lnTo>
                  <a:cubicBezTo>
                    <a:pt x="2547" y="13367"/>
                    <a:pt x="3149" y="13372"/>
                    <a:pt x="3843" y="13372"/>
                  </a:cubicBezTo>
                  <a:cubicBezTo>
                    <a:pt x="4476" y="13372"/>
                    <a:pt x="5185" y="13368"/>
                    <a:pt x="5944" y="13364"/>
                  </a:cubicBezTo>
                  <a:cubicBezTo>
                    <a:pt x="6836" y="13358"/>
                    <a:pt x="7802" y="13354"/>
                    <a:pt x="8802" y="13354"/>
                  </a:cubicBezTo>
                  <a:lnTo>
                    <a:pt x="29586" y="13354"/>
                  </a:lnTo>
                  <a:cubicBezTo>
                    <a:pt x="30598" y="13354"/>
                    <a:pt x="31397" y="13381"/>
                    <a:pt x="32040" y="13403"/>
                  </a:cubicBezTo>
                  <a:cubicBezTo>
                    <a:pt x="32484" y="13420"/>
                    <a:pt x="32860" y="13432"/>
                    <a:pt x="33192" y="13432"/>
                  </a:cubicBezTo>
                  <a:cubicBezTo>
                    <a:pt x="33609" y="13432"/>
                    <a:pt x="33956" y="13412"/>
                    <a:pt x="34274" y="13348"/>
                  </a:cubicBezTo>
                  <a:cubicBezTo>
                    <a:pt x="34682" y="13269"/>
                    <a:pt x="34972" y="13103"/>
                    <a:pt x="35137" y="12856"/>
                  </a:cubicBezTo>
                  <a:cubicBezTo>
                    <a:pt x="35363" y="12517"/>
                    <a:pt x="35282" y="12127"/>
                    <a:pt x="35252" y="11980"/>
                  </a:cubicBezTo>
                  <a:cubicBezTo>
                    <a:pt x="35195" y="11701"/>
                    <a:pt x="35007" y="11639"/>
                    <a:pt x="34871" y="11593"/>
                  </a:cubicBezTo>
                  <a:cubicBezTo>
                    <a:pt x="34721" y="11545"/>
                    <a:pt x="34470" y="11463"/>
                    <a:pt x="34019" y="11025"/>
                  </a:cubicBezTo>
                  <a:cubicBezTo>
                    <a:pt x="33815" y="10828"/>
                    <a:pt x="33540" y="10585"/>
                    <a:pt x="33225" y="10309"/>
                  </a:cubicBezTo>
                  <a:cubicBezTo>
                    <a:pt x="32202" y="9412"/>
                    <a:pt x="30800" y="8183"/>
                    <a:pt x="30101" y="6928"/>
                  </a:cubicBezTo>
                  <a:cubicBezTo>
                    <a:pt x="29367" y="5611"/>
                    <a:pt x="28902" y="3294"/>
                    <a:pt x="28625" y="1909"/>
                  </a:cubicBezTo>
                  <a:cubicBezTo>
                    <a:pt x="28552" y="1542"/>
                    <a:pt x="28489" y="1231"/>
                    <a:pt x="28435" y="1000"/>
                  </a:cubicBezTo>
                  <a:cubicBezTo>
                    <a:pt x="28376" y="749"/>
                    <a:pt x="28353" y="598"/>
                    <a:pt x="28346" y="510"/>
                  </a:cubicBezTo>
                  <a:cubicBezTo>
                    <a:pt x="28373" y="500"/>
                    <a:pt x="28400" y="486"/>
                    <a:pt x="28422" y="468"/>
                  </a:cubicBezTo>
                  <a:lnTo>
                    <a:pt x="28537" y="268"/>
                  </a:lnTo>
                  <a:lnTo>
                    <a:pt x="28247" y="234"/>
                  </a:lnTo>
                  <a:lnTo>
                    <a:pt x="28111" y="56"/>
                  </a:lnTo>
                  <a:cubicBezTo>
                    <a:pt x="28153" y="24"/>
                    <a:pt x="28202" y="8"/>
                    <a:pt x="28254" y="8"/>
                  </a:cubicBezTo>
                  <a:cubicBezTo>
                    <a:pt x="28256" y="8"/>
                    <a:pt x="28258" y="8"/>
                    <a:pt x="28261" y="8"/>
                  </a:cubicBezTo>
                  <a:cubicBezTo>
                    <a:pt x="28231" y="3"/>
                    <a:pt x="28203" y="0"/>
                    <a:pt x="281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2120;p64">
              <a:extLst>
                <a:ext uri="{FF2B5EF4-FFF2-40B4-BE49-F238E27FC236}">
                  <a16:creationId xmlns:a16="http://schemas.microsoft.com/office/drawing/2014/main" id="{D49DBF82-2423-22FD-5C49-15A21846938D}"/>
                </a:ext>
              </a:extLst>
            </p:cNvPr>
            <p:cNvSpPr/>
            <p:nvPr/>
          </p:nvSpPr>
          <p:spPr>
            <a:xfrm>
              <a:off x="238125" y="1973675"/>
              <a:ext cx="2558775" cy="1623600"/>
            </a:xfrm>
            <a:custGeom>
              <a:avLst/>
              <a:gdLst/>
              <a:ahLst/>
              <a:cxnLst/>
              <a:rect l="l" t="t" r="r" b="b"/>
              <a:pathLst>
                <a:path w="102351" h="64944" extrusionOk="0">
                  <a:moveTo>
                    <a:pt x="99608" y="516"/>
                  </a:moveTo>
                  <a:cubicBezTo>
                    <a:pt x="100838" y="516"/>
                    <a:pt x="101835" y="1513"/>
                    <a:pt x="101835" y="2744"/>
                  </a:cubicBezTo>
                  <a:lnTo>
                    <a:pt x="101835" y="62200"/>
                  </a:lnTo>
                  <a:cubicBezTo>
                    <a:pt x="101833" y="63429"/>
                    <a:pt x="100836" y="64425"/>
                    <a:pt x="99608" y="64426"/>
                  </a:cubicBezTo>
                  <a:lnTo>
                    <a:pt x="2743" y="64426"/>
                  </a:lnTo>
                  <a:cubicBezTo>
                    <a:pt x="1514" y="64425"/>
                    <a:pt x="519" y="63429"/>
                    <a:pt x="517" y="62200"/>
                  </a:cubicBezTo>
                  <a:lnTo>
                    <a:pt x="517" y="2744"/>
                  </a:lnTo>
                  <a:cubicBezTo>
                    <a:pt x="519" y="1515"/>
                    <a:pt x="1514" y="518"/>
                    <a:pt x="2743" y="516"/>
                  </a:cubicBezTo>
                  <a:close/>
                  <a:moveTo>
                    <a:pt x="2743" y="1"/>
                  </a:moveTo>
                  <a:cubicBezTo>
                    <a:pt x="1230" y="1"/>
                    <a:pt x="0" y="1229"/>
                    <a:pt x="0" y="2744"/>
                  </a:cubicBezTo>
                  <a:lnTo>
                    <a:pt x="0" y="62200"/>
                  </a:lnTo>
                  <a:cubicBezTo>
                    <a:pt x="0" y="63713"/>
                    <a:pt x="1230" y="64943"/>
                    <a:pt x="2743" y="64943"/>
                  </a:cubicBezTo>
                  <a:lnTo>
                    <a:pt x="99608" y="64943"/>
                  </a:lnTo>
                  <a:cubicBezTo>
                    <a:pt x="101120" y="64943"/>
                    <a:pt x="102351" y="63713"/>
                    <a:pt x="102351" y="62200"/>
                  </a:cubicBezTo>
                  <a:lnTo>
                    <a:pt x="102351" y="2744"/>
                  </a:lnTo>
                  <a:cubicBezTo>
                    <a:pt x="102351" y="1228"/>
                    <a:pt x="101123" y="1"/>
                    <a:pt x="9960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2121;p64">
              <a:extLst>
                <a:ext uri="{FF2B5EF4-FFF2-40B4-BE49-F238E27FC236}">
                  <a16:creationId xmlns:a16="http://schemas.microsoft.com/office/drawing/2014/main" id="{25F4DE02-EF3A-8CAC-5D1F-082B20CAD7B9}"/>
                </a:ext>
              </a:extLst>
            </p:cNvPr>
            <p:cNvSpPr/>
            <p:nvPr/>
          </p:nvSpPr>
          <p:spPr>
            <a:xfrm>
              <a:off x="255425" y="1991200"/>
              <a:ext cx="2524175" cy="1588500"/>
            </a:xfrm>
            <a:custGeom>
              <a:avLst/>
              <a:gdLst/>
              <a:ahLst/>
              <a:cxnLst/>
              <a:rect l="l" t="t" r="r" b="b"/>
              <a:pathLst>
                <a:path w="100967" h="63540" extrusionOk="0">
                  <a:moveTo>
                    <a:pt x="98640" y="518"/>
                  </a:moveTo>
                  <a:cubicBezTo>
                    <a:pt x="99639" y="518"/>
                    <a:pt x="100449" y="1328"/>
                    <a:pt x="100449" y="2328"/>
                  </a:cubicBezTo>
                  <a:lnTo>
                    <a:pt x="100449" y="61214"/>
                  </a:lnTo>
                  <a:cubicBezTo>
                    <a:pt x="100448" y="62212"/>
                    <a:pt x="99639" y="63022"/>
                    <a:pt x="98640" y="63024"/>
                  </a:cubicBezTo>
                  <a:lnTo>
                    <a:pt x="2328" y="63024"/>
                  </a:lnTo>
                  <a:cubicBezTo>
                    <a:pt x="1328" y="63022"/>
                    <a:pt x="519" y="62212"/>
                    <a:pt x="517" y="61214"/>
                  </a:cubicBezTo>
                  <a:lnTo>
                    <a:pt x="517" y="2328"/>
                  </a:lnTo>
                  <a:cubicBezTo>
                    <a:pt x="519" y="1328"/>
                    <a:pt x="1328" y="519"/>
                    <a:pt x="2328" y="518"/>
                  </a:cubicBezTo>
                  <a:close/>
                  <a:moveTo>
                    <a:pt x="2328" y="1"/>
                  </a:moveTo>
                  <a:cubicBezTo>
                    <a:pt x="1042" y="2"/>
                    <a:pt x="2" y="1043"/>
                    <a:pt x="0" y="2328"/>
                  </a:cubicBezTo>
                  <a:lnTo>
                    <a:pt x="0" y="61214"/>
                  </a:lnTo>
                  <a:cubicBezTo>
                    <a:pt x="2" y="62498"/>
                    <a:pt x="1042" y="63538"/>
                    <a:pt x="2328" y="63540"/>
                  </a:cubicBezTo>
                  <a:lnTo>
                    <a:pt x="98640" y="63540"/>
                  </a:lnTo>
                  <a:cubicBezTo>
                    <a:pt x="99925" y="63538"/>
                    <a:pt x="100965" y="62498"/>
                    <a:pt x="100967" y="61214"/>
                  </a:cubicBezTo>
                  <a:lnTo>
                    <a:pt x="100967" y="2328"/>
                  </a:lnTo>
                  <a:cubicBezTo>
                    <a:pt x="100967" y="1043"/>
                    <a:pt x="99925" y="1"/>
                    <a:pt x="9864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2122;p64">
              <a:extLst>
                <a:ext uri="{FF2B5EF4-FFF2-40B4-BE49-F238E27FC236}">
                  <a16:creationId xmlns:a16="http://schemas.microsoft.com/office/drawing/2014/main" id="{19E534EF-2ACE-5591-AC2D-937C79950783}"/>
                </a:ext>
              </a:extLst>
            </p:cNvPr>
            <p:cNvSpPr/>
            <p:nvPr/>
          </p:nvSpPr>
          <p:spPr>
            <a:xfrm>
              <a:off x="1091150" y="3888075"/>
              <a:ext cx="856825" cy="25"/>
            </a:xfrm>
            <a:custGeom>
              <a:avLst/>
              <a:gdLst/>
              <a:ahLst/>
              <a:cxnLst/>
              <a:rect l="l" t="t" r="r" b="b"/>
              <a:pathLst>
                <a:path w="34273" h="1" extrusionOk="0">
                  <a:moveTo>
                    <a:pt x="1" y="0"/>
                  </a:moveTo>
                  <a:lnTo>
                    <a:pt x="34272" y="0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2123;p64">
              <a:extLst>
                <a:ext uri="{FF2B5EF4-FFF2-40B4-BE49-F238E27FC236}">
                  <a16:creationId xmlns:a16="http://schemas.microsoft.com/office/drawing/2014/main" id="{A0F914BB-644F-4967-C9F6-12FB65CC2C9F}"/>
                </a:ext>
              </a:extLst>
            </p:cNvPr>
            <p:cNvSpPr/>
            <p:nvPr/>
          </p:nvSpPr>
          <p:spPr>
            <a:xfrm>
              <a:off x="1091125" y="3881600"/>
              <a:ext cx="856850" cy="12925"/>
            </a:xfrm>
            <a:custGeom>
              <a:avLst/>
              <a:gdLst/>
              <a:ahLst/>
              <a:cxnLst/>
              <a:rect l="l" t="t" r="r" b="b"/>
              <a:pathLst>
                <a:path w="34274" h="517" extrusionOk="0">
                  <a:moveTo>
                    <a:pt x="0" y="1"/>
                  </a:moveTo>
                  <a:lnTo>
                    <a:pt x="0" y="516"/>
                  </a:lnTo>
                  <a:lnTo>
                    <a:pt x="34273" y="516"/>
                  </a:lnTo>
                  <a:lnTo>
                    <a:pt x="3427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1" name="Kép 10" descr="A képen szöveg, képernyőkép, Betűtípus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73832429-A2D5-3742-7EAB-C3C19F1922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9283" y="758466"/>
            <a:ext cx="2663677" cy="14767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9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CÉLUNK</a:t>
            </a:r>
            <a:endParaRPr dirty="0"/>
          </a:p>
        </p:txBody>
      </p:sp>
      <p:sp>
        <p:nvSpPr>
          <p:cNvPr id="171" name="Google Shape;171;p39"/>
          <p:cNvSpPr txBox="1">
            <a:spLocks noGrp="1"/>
          </p:cNvSpPr>
          <p:nvPr>
            <p:ph type="body" idx="1"/>
          </p:nvPr>
        </p:nvSpPr>
        <p:spPr>
          <a:xfrm>
            <a:off x="938500" y="1246025"/>
            <a:ext cx="7172100" cy="35914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hu-HU" sz="1200" dirty="0"/>
              <a:t>A kapott feladatunk tételmondata: </a:t>
            </a:r>
            <a:r>
              <a:rPr lang="hu-HU" sz="12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„Szimuláljon egy könyvtári rendszert!”</a:t>
            </a:r>
            <a:endParaRPr sz="1200" b="1" i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>
              <a:spcAft>
                <a:spcPts val="1600"/>
              </a:spcAft>
              <a:buNone/>
            </a:pPr>
            <a:r>
              <a:rPr lang="hu-HU" sz="1200" dirty="0"/>
              <a:t>Eszközölt technológiák: </a:t>
            </a:r>
            <a:r>
              <a:rPr lang="hu-HU" sz="1200" b="1" dirty="0"/>
              <a:t>Java</a:t>
            </a:r>
            <a:r>
              <a:rPr lang="hu-HU" sz="1200" dirty="0"/>
              <a:t> (JDK 21+), </a:t>
            </a:r>
            <a:r>
              <a:rPr lang="hu-HU" sz="1200" b="1" dirty="0"/>
              <a:t>Konzolos felület </a:t>
            </a:r>
            <a:r>
              <a:rPr lang="hu-HU" sz="1200" dirty="0"/>
              <a:t>(CLI), Fájl </a:t>
            </a:r>
            <a:r>
              <a:rPr lang="hu-HU" sz="1200" b="1" dirty="0"/>
              <a:t>CRUD</a:t>
            </a:r>
            <a:r>
              <a:rPr lang="hu-HU" sz="1200" dirty="0"/>
              <a:t> műveletek, AI</a:t>
            </a:r>
          </a:p>
          <a:p>
            <a:pPr marL="0" lvl="0" indent="0">
              <a:spcAft>
                <a:spcPts val="1600"/>
              </a:spcAft>
              <a:buNone/>
            </a:pPr>
            <a:r>
              <a:rPr lang="hu-HU" sz="1200" dirty="0"/>
              <a:t>Fejlesztési modell: </a:t>
            </a:r>
            <a:r>
              <a:rPr lang="hu-HU" sz="1200" b="1" dirty="0"/>
              <a:t>Evolúciós fejlesztés</a:t>
            </a:r>
          </a:p>
          <a:p>
            <a:pPr marL="0" lvl="0" indent="0">
              <a:spcAft>
                <a:spcPts val="1600"/>
              </a:spcAft>
              <a:buNone/>
            </a:pPr>
            <a:r>
              <a:rPr lang="hu-HU" sz="1200" b="1" dirty="0"/>
              <a:t>Fő funkciók:</a:t>
            </a:r>
            <a:endParaRPr lang="hu-HU" sz="1200" dirty="0"/>
          </a:p>
          <a:p>
            <a:r>
              <a:rPr lang="hu-HU" sz="1200" dirty="0"/>
              <a:t>Tagok és könyvek nyilvántartása.</a:t>
            </a:r>
          </a:p>
          <a:p>
            <a:r>
              <a:rPr lang="hu-HU" sz="1200" dirty="0"/>
              <a:t>Könyv kölcsönzés (</a:t>
            </a:r>
            <a:r>
              <a:rPr lang="hu-HU" sz="1200" dirty="0" err="1"/>
              <a:t>max</a:t>
            </a:r>
            <a:r>
              <a:rPr lang="hu-HU" sz="1200" dirty="0"/>
              <a:t> 3 db) és visszavétel.</a:t>
            </a:r>
          </a:p>
          <a:p>
            <a:r>
              <a:rPr lang="hu-HU" sz="1200" dirty="0"/>
              <a:t>Automatikus késedelmi díj számítás (50 Ft/nap).</a:t>
            </a:r>
          </a:p>
          <a:p>
            <a:r>
              <a:rPr lang="hu-HU" sz="1200" dirty="0"/>
              <a:t>Automatikus statisztika készítés</a:t>
            </a:r>
          </a:p>
          <a:p>
            <a:r>
              <a:rPr lang="hu-HU" sz="1200" dirty="0"/>
              <a:t>Navigálható menürendszer</a:t>
            </a:r>
          </a:p>
          <a:p>
            <a:pPr marL="155575" indent="0">
              <a:buNone/>
            </a:pPr>
            <a:endParaRPr lang="hu-HU" sz="1200" dirty="0"/>
          </a:p>
          <a:p>
            <a:pPr marL="155575" indent="0">
              <a:buNone/>
            </a:pPr>
            <a:r>
              <a:rPr lang="hu-HU" sz="1200" b="1" dirty="0"/>
              <a:t>AI használat:</a:t>
            </a:r>
          </a:p>
          <a:p>
            <a:pPr marL="155575" indent="0">
              <a:buNone/>
            </a:pPr>
            <a:r>
              <a:rPr lang="hu-HU" sz="1200" dirty="0"/>
              <a:t>	Törekedtünk az okos és ésszerű használatára</a:t>
            </a:r>
          </a:p>
          <a:p>
            <a:pPr marL="155575" indent="0">
              <a:buNone/>
            </a:pPr>
            <a:r>
              <a:rPr lang="hu-HU" sz="1200" dirty="0"/>
              <a:t>	Gondosan kidolgozott </a:t>
            </a:r>
            <a:r>
              <a:rPr lang="hu-HU" sz="1200" dirty="0" err="1"/>
              <a:t>promptokkal</a:t>
            </a:r>
            <a:r>
              <a:rPr lang="hu-HU" sz="1200" dirty="0"/>
              <a:t> dolgoztunk</a:t>
            </a:r>
          </a:p>
          <a:p>
            <a:pPr marL="0" lvl="0" indent="0">
              <a:spcAft>
                <a:spcPts val="1600"/>
              </a:spcAft>
              <a:buNone/>
            </a:pPr>
            <a:endParaRPr lang="hu-HU" sz="1200" dirty="0"/>
          </a:p>
          <a:p>
            <a:pPr marL="0" lvl="0" indent="0">
              <a:spcAft>
                <a:spcPts val="1600"/>
              </a:spcAft>
              <a:buNone/>
            </a:pPr>
            <a:endParaRPr sz="1200" dirty="0"/>
          </a:p>
        </p:txBody>
      </p:sp>
      <p:cxnSp>
        <p:nvCxnSpPr>
          <p:cNvPr id="172" name="Google Shape;172;p39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pic>
        <p:nvPicPr>
          <p:cNvPr id="2050" name="Picture 2">
            <a:extLst>
              <a:ext uri="{FF2B5EF4-FFF2-40B4-BE49-F238E27FC236}">
                <a16:creationId xmlns:a16="http://schemas.microsoft.com/office/drawing/2014/main" id="{76952F37-EDB8-5D52-A580-5AD4E7347C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9350" y="6076351"/>
            <a:ext cx="464973" cy="464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AutoShape 4">
            <a:extLst>
              <a:ext uri="{FF2B5EF4-FFF2-40B4-BE49-F238E27FC236}">
                <a16:creationId xmlns:a16="http://schemas.microsoft.com/office/drawing/2014/main" id="{40F4D9EE-5D8F-DFFD-967B-CAFC83492C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D302E645-4D73-558C-BD6C-A28A5F4CFD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9682" y="6076351"/>
            <a:ext cx="464973" cy="464973"/>
          </a:xfrm>
          <a:prstGeom prst="rect">
            <a:avLst/>
          </a:prstGeom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4CCC43EF-6180-E3A7-58E9-76E0B4F523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0014" y="6076352"/>
            <a:ext cx="464973" cy="462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34D450B8-5503-6CE8-132A-63915C6753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8222" y="2287122"/>
            <a:ext cx="754626" cy="754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Click="0" advTm="500">
        <p:fade/>
      </p:transition>
    </mc:Choice>
    <mc:Fallback>
      <p:transition spd="med" advClick="0" advTm="5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>
          <a:extLst>
            <a:ext uri="{FF2B5EF4-FFF2-40B4-BE49-F238E27FC236}">
              <a16:creationId xmlns:a16="http://schemas.microsoft.com/office/drawing/2014/main" id="{7EE1AE0D-DD00-6868-31FE-C23E65C46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9">
            <a:extLst>
              <a:ext uri="{FF2B5EF4-FFF2-40B4-BE49-F238E27FC236}">
                <a16:creationId xmlns:a16="http://schemas.microsoft.com/office/drawing/2014/main" id="{50B1B9E0-29A4-D288-4B95-64E227D8E8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CÉLUNK</a:t>
            </a:r>
            <a:endParaRPr dirty="0"/>
          </a:p>
        </p:txBody>
      </p:sp>
      <p:sp>
        <p:nvSpPr>
          <p:cNvPr id="171" name="Google Shape;171;p39">
            <a:extLst>
              <a:ext uri="{FF2B5EF4-FFF2-40B4-BE49-F238E27FC236}">
                <a16:creationId xmlns:a16="http://schemas.microsoft.com/office/drawing/2014/main" id="{A3BFA4DA-069F-86F9-3956-07CA9DD5DA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38500" y="1246025"/>
            <a:ext cx="7172100" cy="35914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hu-HU" sz="1200" dirty="0"/>
              <a:t>A kapott feladatunk tételmondata: </a:t>
            </a:r>
            <a:r>
              <a:rPr lang="hu-HU" sz="12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„Szimuláljon egy könyvtári rendszert!”</a:t>
            </a:r>
            <a:endParaRPr sz="1200" b="1" i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>
              <a:spcAft>
                <a:spcPts val="1600"/>
              </a:spcAft>
              <a:buNone/>
            </a:pPr>
            <a:r>
              <a:rPr lang="hu-HU" sz="1200" dirty="0"/>
              <a:t>Eszközölt technológiák: </a:t>
            </a:r>
            <a:r>
              <a:rPr lang="hu-HU" sz="1200" b="1" dirty="0"/>
              <a:t>Java</a:t>
            </a:r>
            <a:r>
              <a:rPr lang="hu-HU" sz="1200" dirty="0"/>
              <a:t> (JDK 21+), </a:t>
            </a:r>
            <a:r>
              <a:rPr lang="hu-HU" sz="1200" b="1" dirty="0"/>
              <a:t>Konzolos felület </a:t>
            </a:r>
            <a:r>
              <a:rPr lang="hu-HU" sz="1200" dirty="0"/>
              <a:t>(CLI), Fájl </a:t>
            </a:r>
            <a:r>
              <a:rPr lang="hu-HU" sz="1200" b="1" dirty="0"/>
              <a:t>CRUD</a:t>
            </a:r>
            <a:r>
              <a:rPr lang="hu-HU" sz="1200" dirty="0"/>
              <a:t> műveletek, AI</a:t>
            </a:r>
          </a:p>
          <a:p>
            <a:pPr marL="0" lvl="0" indent="0">
              <a:spcAft>
                <a:spcPts val="1600"/>
              </a:spcAft>
              <a:buNone/>
            </a:pPr>
            <a:r>
              <a:rPr lang="hu-HU" sz="1200" dirty="0"/>
              <a:t>Fejlesztési modell: </a:t>
            </a:r>
            <a:r>
              <a:rPr lang="hu-HU" sz="1200" b="1" dirty="0"/>
              <a:t>Evolúciós fejlesztés</a:t>
            </a:r>
          </a:p>
          <a:p>
            <a:pPr marL="0" lvl="0" indent="0">
              <a:spcAft>
                <a:spcPts val="1600"/>
              </a:spcAft>
              <a:buNone/>
            </a:pPr>
            <a:r>
              <a:rPr lang="hu-HU" sz="1200" b="1" dirty="0"/>
              <a:t>Fő funkciók:</a:t>
            </a:r>
            <a:endParaRPr lang="hu-HU" sz="1200" dirty="0"/>
          </a:p>
          <a:p>
            <a:r>
              <a:rPr lang="hu-HU" sz="1200" dirty="0"/>
              <a:t>Tagok és könyvek nyilvántartása.</a:t>
            </a:r>
          </a:p>
          <a:p>
            <a:r>
              <a:rPr lang="hu-HU" sz="1200" dirty="0"/>
              <a:t>Könyv kölcsönzés (</a:t>
            </a:r>
            <a:r>
              <a:rPr lang="hu-HU" sz="1200" dirty="0" err="1"/>
              <a:t>max</a:t>
            </a:r>
            <a:r>
              <a:rPr lang="hu-HU" sz="1200" dirty="0"/>
              <a:t> 3 db) és visszavétel.</a:t>
            </a:r>
          </a:p>
          <a:p>
            <a:r>
              <a:rPr lang="hu-HU" sz="1200" dirty="0"/>
              <a:t>Automatikus késedelmi díj számítás (50 Ft/nap).</a:t>
            </a:r>
          </a:p>
          <a:p>
            <a:r>
              <a:rPr lang="hu-HU" sz="1200" dirty="0"/>
              <a:t>Automatikus statisztika készítés</a:t>
            </a:r>
          </a:p>
          <a:p>
            <a:r>
              <a:rPr lang="hu-HU" sz="1200" dirty="0"/>
              <a:t>Navigálható menürendszer</a:t>
            </a:r>
          </a:p>
          <a:p>
            <a:pPr marL="155575" indent="0">
              <a:buNone/>
            </a:pPr>
            <a:endParaRPr lang="hu-HU" sz="1200" dirty="0"/>
          </a:p>
          <a:p>
            <a:pPr marL="155575" indent="0">
              <a:buNone/>
            </a:pPr>
            <a:r>
              <a:rPr lang="hu-HU" sz="1200" b="1" dirty="0"/>
              <a:t>AI használat:</a:t>
            </a:r>
          </a:p>
          <a:p>
            <a:pPr marL="155575" indent="0">
              <a:buNone/>
            </a:pPr>
            <a:r>
              <a:rPr lang="hu-HU" sz="1200" dirty="0"/>
              <a:t>	Törekedtünk az okos és ésszerű használatára</a:t>
            </a:r>
          </a:p>
          <a:p>
            <a:pPr marL="155575" indent="0">
              <a:buNone/>
            </a:pPr>
            <a:r>
              <a:rPr lang="hu-HU" sz="1200" dirty="0"/>
              <a:t>	Gondosan kidolgozott </a:t>
            </a:r>
            <a:r>
              <a:rPr lang="hu-HU" sz="1200" dirty="0" err="1"/>
              <a:t>promptokkal</a:t>
            </a:r>
            <a:r>
              <a:rPr lang="hu-HU" sz="1200" dirty="0"/>
              <a:t> dolgoztunk</a:t>
            </a:r>
          </a:p>
          <a:p>
            <a:pPr marL="0" lvl="0" indent="0">
              <a:spcAft>
                <a:spcPts val="1600"/>
              </a:spcAft>
              <a:buNone/>
            </a:pPr>
            <a:endParaRPr lang="hu-HU" sz="1200" dirty="0"/>
          </a:p>
          <a:p>
            <a:pPr marL="0" lvl="0" indent="0">
              <a:spcAft>
                <a:spcPts val="1600"/>
              </a:spcAft>
              <a:buNone/>
            </a:pPr>
            <a:endParaRPr sz="1200" dirty="0"/>
          </a:p>
        </p:txBody>
      </p:sp>
      <p:cxnSp>
        <p:nvCxnSpPr>
          <p:cNvPr id="172" name="Google Shape;172;p39">
            <a:extLst>
              <a:ext uri="{FF2B5EF4-FFF2-40B4-BE49-F238E27FC236}">
                <a16:creationId xmlns:a16="http://schemas.microsoft.com/office/drawing/2014/main" id="{758E0E1C-BDF7-6EA4-7F8E-09173FA5C9EC}"/>
              </a:ext>
            </a:extLst>
          </p:cNvPr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pic>
        <p:nvPicPr>
          <p:cNvPr id="2050" name="Picture 2">
            <a:extLst>
              <a:ext uri="{FF2B5EF4-FFF2-40B4-BE49-F238E27FC236}">
                <a16:creationId xmlns:a16="http://schemas.microsoft.com/office/drawing/2014/main" id="{3011B5C0-7FD9-FA37-DB2E-2768792480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9350" y="5260272"/>
            <a:ext cx="464973" cy="464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AutoShape 4">
            <a:extLst>
              <a:ext uri="{FF2B5EF4-FFF2-40B4-BE49-F238E27FC236}">
                <a16:creationId xmlns:a16="http://schemas.microsoft.com/office/drawing/2014/main" id="{498B97DB-58FF-8907-9753-152CD64BE70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4BE0D090-F19B-19CD-0EC8-02644F1916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9682" y="5260272"/>
            <a:ext cx="464973" cy="464973"/>
          </a:xfrm>
          <a:prstGeom prst="rect">
            <a:avLst/>
          </a:prstGeom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D1E51DAE-BA62-CEFD-3EEE-29D9C39C24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0014" y="5260273"/>
            <a:ext cx="464973" cy="462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234B7742-9941-8335-B524-B409F8DDBD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2037" y="2287122"/>
            <a:ext cx="754626" cy="754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Kép 2" descr="A képen szöveg, képernyőkép, Betűtípus, algebr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46A45303-5536-3474-5A0B-6E6454C650B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83933" y="1644232"/>
            <a:ext cx="3054652" cy="1249630"/>
          </a:xfrm>
          <a:prstGeom prst="rect">
            <a:avLst/>
          </a:prstGeom>
        </p:spPr>
      </p:pic>
      <p:pic>
        <p:nvPicPr>
          <p:cNvPr id="5" name="Kép 4" descr="A képen szöveg, képernyőkép, Betűtípus, algebr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C9D0B0EA-481B-7762-2F2C-B56BB24C5E4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42233" y="3027316"/>
            <a:ext cx="2296352" cy="1740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21713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4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7778E-7 -1.23457E-6 L 2.77778E-7 -0.25 " pathEditMode="relative" rAng="0" ptsTypes="AA">
                                      <p:cBhvr>
                                        <p:cTn id="6" dur="75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750"/>
                            </p:stCondLst>
                            <p:childTnLst>
                              <p:par>
                                <p:cTn id="8" presetID="64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25 E" pathEditMode="relative" ptsTypes="">
                                      <p:cBhvr>
                                        <p:cTn id="9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500"/>
                            </p:stCondLst>
                            <p:childTnLst>
                              <p:par>
                                <p:cTn id="11" presetID="64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25 E" pathEditMode="relative" ptsTypes="">
                                      <p:cBhvr>
                                        <p:cTn id="12" dur="750" fill="hold"/>
                                        <p:tgtEl>
                                          <p:spTgt spid="20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>
          <a:extLst>
            <a:ext uri="{FF2B5EF4-FFF2-40B4-BE49-F238E27FC236}">
              <a16:creationId xmlns:a16="http://schemas.microsoft.com/office/drawing/2014/main" id="{E441DD49-30FC-4B0C-A315-9C9F49DCF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9">
            <a:extLst>
              <a:ext uri="{FF2B5EF4-FFF2-40B4-BE49-F238E27FC236}">
                <a16:creationId xmlns:a16="http://schemas.microsoft.com/office/drawing/2014/main" id="{A41365BF-E04F-3610-14AB-A72436265D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hu-HU" dirty="0"/>
              <a:t>MINŐSÉGBIZTOSÍTÁS</a:t>
            </a:r>
            <a:endParaRPr dirty="0"/>
          </a:p>
        </p:txBody>
      </p:sp>
      <p:sp>
        <p:nvSpPr>
          <p:cNvPr id="171" name="Google Shape;171;p39">
            <a:extLst>
              <a:ext uri="{FF2B5EF4-FFF2-40B4-BE49-F238E27FC236}">
                <a16:creationId xmlns:a16="http://schemas.microsoft.com/office/drawing/2014/main" id="{26B0104D-5BB7-DF35-99C7-75C847F5CA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38500" y="1246025"/>
            <a:ext cx="5609784" cy="303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hu-HU" sz="1200" b="1" dirty="0"/>
              <a:t>Fejlesztői tesztek:</a:t>
            </a:r>
            <a:r>
              <a:rPr lang="hu-HU" sz="1200" dirty="0"/>
              <a:t> Csupán a szoftver </a:t>
            </a:r>
            <a:r>
              <a:rPr lang="hu-HU" sz="1200" dirty="0" err="1"/>
              <a:t>rendkívűl</a:t>
            </a:r>
            <a:r>
              <a:rPr lang="hu-HU" sz="1200" dirty="0"/>
              <a:t> felületes tesztelését végeztük.</a:t>
            </a:r>
          </a:p>
          <a:p>
            <a:pPr marL="0" lvl="0" indent="0">
              <a:buNone/>
            </a:pPr>
            <a:endParaRPr lang="hu-HU" sz="1200" dirty="0"/>
          </a:p>
          <a:p>
            <a:pPr marL="0" lvl="0" indent="0">
              <a:buNone/>
            </a:pPr>
            <a:r>
              <a:rPr lang="hu-HU" sz="1200" b="1" dirty="0"/>
              <a:t>Tesztelő csapatunk</a:t>
            </a:r>
            <a:r>
              <a:rPr lang="hu-HU" sz="1200" dirty="0"/>
              <a:t>: 3. Csapat, </a:t>
            </a:r>
            <a:r>
              <a:rPr lang="hu-HU" sz="1200" b="1" dirty="0"/>
              <a:t>tesztvezető</a:t>
            </a:r>
            <a:r>
              <a:rPr lang="hu-HU" sz="1200" dirty="0"/>
              <a:t>: Bauer Bálint</a:t>
            </a:r>
          </a:p>
          <a:p>
            <a:pPr marL="0" lvl="0" indent="0">
              <a:buNone/>
            </a:pPr>
            <a:endParaRPr lang="hu-HU" sz="1200" dirty="0"/>
          </a:p>
          <a:p>
            <a:pPr marL="0" lvl="0" indent="0">
              <a:buNone/>
            </a:pPr>
            <a:r>
              <a:rPr lang="hu-HU" sz="1200" b="1" dirty="0"/>
              <a:t>Független tesztelés eredménye (Jegyzőkönyv v0.4):</a:t>
            </a:r>
          </a:p>
          <a:p>
            <a:pPr marL="0" lvl="0" indent="0">
              <a:buNone/>
            </a:pPr>
            <a:endParaRPr sz="1200" dirty="0"/>
          </a:p>
          <a:p>
            <a:pPr marL="171450" indent="-171450">
              <a:spcAft>
                <a:spcPts val="1600"/>
              </a:spcAft>
            </a:pPr>
            <a:r>
              <a:rPr lang="hu-HU" sz="1200" dirty="0"/>
              <a:t>Eredmény: 100%-os megfelelés.</a:t>
            </a:r>
          </a:p>
          <a:p>
            <a:pPr marL="171450" indent="-171450">
              <a:spcAft>
                <a:spcPts val="1600"/>
              </a:spcAft>
            </a:pPr>
            <a:r>
              <a:rPr lang="hu-HU" sz="1200" dirty="0"/>
              <a:t>Javítások: A gyors és rendszeres iterációknak köszönhetően a szoftver minden ismert hibáját kijavítottuk. Ez a v1.3-ban </a:t>
            </a:r>
            <a:r>
              <a:rPr lang="hu-HU" sz="1200" dirty="0" err="1"/>
              <a:t>kuliminálódott</a:t>
            </a:r>
            <a:r>
              <a:rPr lang="hu-HU" sz="1200" dirty="0"/>
              <a:t>.</a:t>
            </a:r>
            <a:endParaRPr sz="1200" dirty="0"/>
          </a:p>
        </p:txBody>
      </p:sp>
      <p:cxnSp>
        <p:nvCxnSpPr>
          <p:cNvPr id="172" name="Google Shape;172;p39">
            <a:extLst>
              <a:ext uri="{FF2B5EF4-FFF2-40B4-BE49-F238E27FC236}">
                <a16:creationId xmlns:a16="http://schemas.microsoft.com/office/drawing/2014/main" id="{1F79C905-D6DE-718D-420C-5C2EC1553F8D}"/>
              </a:ext>
            </a:extLst>
          </p:cNvPr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pic>
        <p:nvPicPr>
          <p:cNvPr id="8" name="Kép 7" descr="A képen szöveg, képernyőkép, Betűtípus, algebr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D2209337-3DB9-F147-DE2D-72FF791C83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6006" y="1644232"/>
            <a:ext cx="3054652" cy="1249630"/>
          </a:xfrm>
          <a:prstGeom prst="rect">
            <a:avLst/>
          </a:prstGeom>
        </p:spPr>
      </p:pic>
      <p:pic>
        <p:nvPicPr>
          <p:cNvPr id="10" name="Kép 9" descr="A képen szöveg, képernyőkép, Betűtípus, algebr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FCED7EE1-E0AE-86C8-0801-A65C5E6A68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4306" y="3027316"/>
            <a:ext cx="2296352" cy="1740317"/>
          </a:xfrm>
          <a:prstGeom prst="rect">
            <a:avLst/>
          </a:prstGeom>
        </p:spPr>
      </p:pic>
      <p:grpSp>
        <p:nvGrpSpPr>
          <p:cNvPr id="11" name="Google Shape;2297;p73">
            <a:extLst>
              <a:ext uri="{FF2B5EF4-FFF2-40B4-BE49-F238E27FC236}">
                <a16:creationId xmlns:a16="http://schemas.microsoft.com/office/drawing/2014/main" id="{BDE4A64C-2862-B4FE-39B7-EA4EDC950CD8}"/>
              </a:ext>
            </a:extLst>
          </p:cNvPr>
          <p:cNvGrpSpPr/>
          <p:nvPr/>
        </p:nvGrpSpPr>
        <p:grpSpPr>
          <a:xfrm>
            <a:off x="938500" y="4484611"/>
            <a:ext cx="5349890" cy="244867"/>
            <a:chOff x="6336019" y="3733725"/>
            <a:chExt cx="2566206" cy="351310"/>
          </a:xfrm>
        </p:grpSpPr>
        <p:sp>
          <p:nvSpPr>
            <p:cNvPr id="12" name="Google Shape;2298;p73">
              <a:extLst>
                <a:ext uri="{FF2B5EF4-FFF2-40B4-BE49-F238E27FC236}">
                  <a16:creationId xmlns:a16="http://schemas.microsoft.com/office/drawing/2014/main" id="{670467C6-0040-00D2-FBA8-96BEA27C3DDD}"/>
                </a:ext>
              </a:extLst>
            </p:cNvPr>
            <p:cNvSpPr/>
            <p:nvPr/>
          </p:nvSpPr>
          <p:spPr>
            <a:xfrm>
              <a:off x="6336019" y="3733735"/>
              <a:ext cx="1881300" cy="351300"/>
            </a:xfrm>
            <a:prstGeom prst="homePlate">
              <a:avLst>
                <a:gd name="adj" fmla="val 50000"/>
              </a:avLst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2299;p73">
              <a:extLst>
                <a:ext uri="{FF2B5EF4-FFF2-40B4-BE49-F238E27FC236}">
                  <a16:creationId xmlns:a16="http://schemas.microsoft.com/office/drawing/2014/main" id="{4FAD24A4-EA73-163D-95E5-B49D2243C671}"/>
                </a:ext>
              </a:extLst>
            </p:cNvPr>
            <p:cNvSpPr/>
            <p:nvPr/>
          </p:nvSpPr>
          <p:spPr>
            <a:xfrm>
              <a:off x="8098525" y="3733725"/>
              <a:ext cx="346500" cy="351300"/>
            </a:xfrm>
            <a:prstGeom prst="chevron">
              <a:avLst>
                <a:gd name="adj" fmla="val 50000"/>
              </a:avLst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2300;p73">
              <a:extLst>
                <a:ext uri="{FF2B5EF4-FFF2-40B4-BE49-F238E27FC236}">
                  <a16:creationId xmlns:a16="http://schemas.microsoft.com/office/drawing/2014/main" id="{9FF922C5-F935-2B48-06BB-0F53A02455B2}"/>
                </a:ext>
              </a:extLst>
            </p:cNvPr>
            <p:cNvSpPr/>
            <p:nvPr/>
          </p:nvSpPr>
          <p:spPr>
            <a:xfrm>
              <a:off x="8327125" y="3733725"/>
              <a:ext cx="346500" cy="351300"/>
            </a:xfrm>
            <a:prstGeom prst="chevron">
              <a:avLst>
                <a:gd name="adj" fmla="val 50000"/>
              </a:avLst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2301;p73">
              <a:extLst>
                <a:ext uri="{FF2B5EF4-FFF2-40B4-BE49-F238E27FC236}">
                  <a16:creationId xmlns:a16="http://schemas.microsoft.com/office/drawing/2014/main" id="{B6A8CFB7-4D0D-0EAB-D29F-39B3FDC5F4CD}"/>
                </a:ext>
              </a:extLst>
            </p:cNvPr>
            <p:cNvSpPr/>
            <p:nvPr/>
          </p:nvSpPr>
          <p:spPr>
            <a:xfrm>
              <a:off x="8555725" y="3733725"/>
              <a:ext cx="346500" cy="351300"/>
            </a:xfrm>
            <a:prstGeom prst="chevron">
              <a:avLst>
                <a:gd name="adj" fmla="val 50000"/>
              </a:avLst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36832048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059CCF13-3A63-9451-9800-C6394B82B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3">
            <a:extLst>
              <a:ext uri="{FF2B5EF4-FFF2-40B4-BE49-F238E27FC236}">
                <a16:creationId xmlns:a16="http://schemas.microsoft.com/office/drawing/2014/main" id="{7E67F1EA-DD40-23A8-4690-F1E0E620E7E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2669" y="3177750"/>
            <a:ext cx="3220615" cy="59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TESZTELÉS</a:t>
            </a:r>
            <a:endParaRPr dirty="0"/>
          </a:p>
        </p:txBody>
      </p:sp>
      <p:sp>
        <p:nvSpPr>
          <p:cNvPr id="207" name="Google Shape;207;p43">
            <a:extLst>
              <a:ext uri="{FF2B5EF4-FFF2-40B4-BE49-F238E27FC236}">
                <a16:creationId xmlns:a16="http://schemas.microsoft.com/office/drawing/2014/main" id="{C80BCDB3-1E2C-B76C-9040-D6520C288728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048270" y="3287500"/>
            <a:ext cx="2412900" cy="931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</a:t>
            </a:r>
            <a:r>
              <a:rPr lang="hu-HU" dirty="0"/>
              <a:t>2</a:t>
            </a:r>
            <a:endParaRPr dirty="0"/>
          </a:p>
        </p:txBody>
      </p:sp>
      <p:sp>
        <p:nvSpPr>
          <p:cNvPr id="208" name="Google Shape;208;p43">
            <a:extLst>
              <a:ext uri="{FF2B5EF4-FFF2-40B4-BE49-F238E27FC236}">
                <a16:creationId xmlns:a16="http://schemas.microsoft.com/office/drawing/2014/main" id="{1BD2F5D2-3DFE-F89F-F04D-6C9DFA14AFA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762670" y="3720650"/>
            <a:ext cx="30687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hu-HU" dirty="0"/>
              <a:t>2. Csapat: Parkolóautomata szoftver tesztelése</a:t>
            </a:r>
            <a:endParaRPr dirty="0"/>
          </a:p>
        </p:txBody>
      </p:sp>
      <p:cxnSp>
        <p:nvCxnSpPr>
          <p:cNvPr id="209" name="Google Shape;209;p43">
            <a:extLst>
              <a:ext uri="{FF2B5EF4-FFF2-40B4-BE49-F238E27FC236}">
                <a16:creationId xmlns:a16="http://schemas.microsoft.com/office/drawing/2014/main" id="{21CAE168-7FDE-0B08-60CE-7C77193305AF}"/>
              </a:ext>
            </a:extLst>
          </p:cNvPr>
          <p:cNvCxnSpPr/>
          <p:nvPr/>
        </p:nvCxnSpPr>
        <p:spPr>
          <a:xfrm>
            <a:off x="3610750" y="3253297"/>
            <a:ext cx="0" cy="99990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grpSp>
        <p:nvGrpSpPr>
          <p:cNvPr id="3" name="Google Shape;2117;p64">
            <a:extLst>
              <a:ext uri="{FF2B5EF4-FFF2-40B4-BE49-F238E27FC236}">
                <a16:creationId xmlns:a16="http://schemas.microsoft.com/office/drawing/2014/main" id="{E0A34F28-2368-7A27-8D18-36D2ECC34DEC}"/>
              </a:ext>
            </a:extLst>
          </p:cNvPr>
          <p:cNvGrpSpPr/>
          <p:nvPr/>
        </p:nvGrpSpPr>
        <p:grpSpPr>
          <a:xfrm>
            <a:off x="3123132" y="660400"/>
            <a:ext cx="2897735" cy="2108550"/>
            <a:chOff x="238125" y="1973675"/>
            <a:chExt cx="2558775" cy="1951825"/>
          </a:xfrm>
        </p:grpSpPr>
        <p:sp>
          <p:nvSpPr>
            <p:cNvPr id="4" name="Google Shape;2118;p64">
              <a:extLst>
                <a:ext uri="{FF2B5EF4-FFF2-40B4-BE49-F238E27FC236}">
                  <a16:creationId xmlns:a16="http://schemas.microsoft.com/office/drawing/2014/main" id="{91AE4B32-9BC5-2972-0FAA-BAB81A2BCED4}"/>
                </a:ext>
              </a:extLst>
            </p:cNvPr>
            <p:cNvSpPr/>
            <p:nvPr/>
          </p:nvSpPr>
          <p:spPr>
            <a:xfrm>
              <a:off x="325550" y="2055000"/>
              <a:ext cx="2386075" cy="1459975"/>
            </a:xfrm>
            <a:custGeom>
              <a:avLst/>
              <a:gdLst/>
              <a:ahLst/>
              <a:cxnLst/>
              <a:rect l="l" t="t" r="r" b="b"/>
              <a:pathLst>
                <a:path w="95443" h="58399" extrusionOk="0">
                  <a:moveTo>
                    <a:pt x="94925" y="516"/>
                  </a:moveTo>
                  <a:lnTo>
                    <a:pt x="94925" y="57881"/>
                  </a:lnTo>
                  <a:lnTo>
                    <a:pt x="518" y="57881"/>
                  </a:lnTo>
                  <a:lnTo>
                    <a:pt x="518" y="516"/>
                  </a:lnTo>
                  <a:close/>
                  <a:moveTo>
                    <a:pt x="260" y="0"/>
                  </a:moveTo>
                  <a:cubicBezTo>
                    <a:pt x="118" y="0"/>
                    <a:pt x="1" y="115"/>
                    <a:pt x="1" y="259"/>
                  </a:cubicBezTo>
                  <a:lnTo>
                    <a:pt x="1" y="58140"/>
                  </a:lnTo>
                  <a:cubicBezTo>
                    <a:pt x="1" y="58282"/>
                    <a:pt x="118" y="58399"/>
                    <a:pt x="260" y="58399"/>
                  </a:cubicBezTo>
                  <a:lnTo>
                    <a:pt x="95184" y="58399"/>
                  </a:lnTo>
                  <a:cubicBezTo>
                    <a:pt x="95326" y="58399"/>
                    <a:pt x="95441" y="58282"/>
                    <a:pt x="95441" y="58140"/>
                  </a:cubicBezTo>
                  <a:lnTo>
                    <a:pt x="95441" y="259"/>
                  </a:lnTo>
                  <a:cubicBezTo>
                    <a:pt x="95442" y="115"/>
                    <a:pt x="95326" y="0"/>
                    <a:pt x="9518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2119;p64">
              <a:extLst>
                <a:ext uri="{FF2B5EF4-FFF2-40B4-BE49-F238E27FC236}">
                  <a16:creationId xmlns:a16="http://schemas.microsoft.com/office/drawing/2014/main" id="{B075D849-C45D-FF88-BEFE-A1BE390A4613}"/>
                </a:ext>
              </a:extLst>
            </p:cNvPr>
            <p:cNvSpPr/>
            <p:nvPr/>
          </p:nvSpPr>
          <p:spPr>
            <a:xfrm>
              <a:off x="1075325" y="3589700"/>
              <a:ext cx="884075" cy="335800"/>
            </a:xfrm>
            <a:custGeom>
              <a:avLst/>
              <a:gdLst/>
              <a:ahLst/>
              <a:cxnLst/>
              <a:rect l="l" t="t" r="r" b="b"/>
              <a:pathLst>
                <a:path w="35363" h="13432" extrusionOk="0">
                  <a:moveTo>
                    <a:pt x="28176" y="0"/>
                  </a:moveTo>
                  <a:cubicBezTo>
                    <a:pt x="28078" y="0"/>
                    <a:pt x="27996" y="34"/>
                    <a:pt x="27932" y="102"/>
                  </a:cubicBezTo>
                  <a:cubicBezTo>
                    <a:pt x="27790" y="253"/>
                    <a:pt x="27790" y="509"/>
                    <a:pt x="27932" y="1118"/>
                  </a:cubicBezTo>
                  <a:cubicBezTo>
                    <a:pt x="27985" y="1344"/>
                    <a:pt x="28047" y="1651"/>
                    <a:pt x="28119" y="2009"/>
                  </a:cubicBezTo>
                  <a:cubicBezTo>
                    <a:pt x="28420" y="3516"/>
                    <a:pt x="28876" y="5791"/>
                    <a:pt x="29651" y="7179"/>
                  </a:cubicBezTo>
                  <a:cubicBezTo>
                    <a:pt x="30394" y="8514"/>
                    <a:pt x="31835" y="9775"/>
                    <a:pt x="32886" y="10698"/>
                  </a:cubicBezTo>
                  <a:cubicBezTo>
                    <a:pt x="33194" y="10968"/>
                    <a:pt x="33463" y="11203"/>
                    <a:pt x="33660" y="11396"/>
                  </a:cubicBezTo>
                  <a:cubicBezTo>
                    <a:pt x="34197" y="11917"/>
                    <a:pt x="34530" y="12027"/>
                    <a:pt x="34711" y="12085"/>
                  </a:cubicBezTo>
                  <a:cubicBezTo>
                    <a:pt x="34724" y="12089"/>
                    <a:pt x="34738" y="12094"/>
                    <a:pt x="34750" y="12098"/>
                  </a:cubicBezTo>
                  <a:cubicBezTo>
                    <a:pt x="34781" y="12255"/>
                    <a:pt x="34798" y="12433"/>
                    <a:pt x="34708" y="12569"/>
                  </a:cubicBezTo>
                  <a:cubicBezTo>
                    <a:pt x="34621" y="12698"/>
                    <a:pt x="34443" y="12789"/>
                    <a:pt x="34176" y="12841"/>
                  </a:cubicBezTo>
                  <a:cubicBezTo>
                    <a:pt x="33894" y="12897"/>
                    <a:pt x="33576" y="12915"/>
                    <a:pt x="33188" y="12915"/>
                  </a:cubicBezTo>
                  <a:cubicBezTo>
                    <a:pt x="32866" y="12915"/>
                    <a:pt x="32496" y="12902"/>
                    <a:pt x="32057" y="12888"/>
                  </a:cubicBezTo>
                  <a:cubicBezTo>
                    <a:pt x="31412" y="12865"/>
                    <a:pt x="30607" y="12837"/>
                    <a:pt x="29586" y="12837"/>
                  </a:cubicBezTo>
                  <a:lnTo>
                    <a:pt x="8800" y="12837"/>
                  </a:lnTo>
                  <a:cubicBezTo>
                    <a:pt x="7800" y="12837"/>
                    <a:pt x="6833" y="12841"/>
                    <a:pt x="5939" y="12847"/>
                  </a:cubicBezTo>
                  <a:cubicBezTo>
                    <a:pt x="5199" y="12851"/>
                    <a:pt x="4507" y="12855"/>
                    <a:pt x="3887" y="12855"/>
                  </a:cubicBezTo>
                  <a:cubicBezTo>
                    <a:pt x="3179" y="12855"/>
                    <a:pt x="2567" y="12850"/>
                    <a:pt x="2090" y="12837"/>
                  </a:cubicBezTo>
                  <a:lnTo>
                    <a:pt x="1783" y="12828"/>
                  </a:lnTo>
                  <a:cubicBezTo>
                    <a:pt x="706" y="12798"/>
                    <a:pt x="700" y="12793"/>
                    <a:pt x="570" y="12668"/>
                  </a:cubicBezTo>
                  <a:cubicBezTo>
                    <a:pt x="526" y="12627"/>
                    <a:pt x="520" y="12598"/>
                    <a:pt x="520" y="12571"/>
                  </a:cubicBezTo>
                  <a:cubicBezTo>
                    <a:pt x="520" y="12511"/>
                    <a:pt x="556" y="12333"/>
                    <a:pt x="912" y="11971"/>
                  </a:cubicBezTo>
                  <a:cubicBezTo>
                    <a:pt x="1108" y="11772"/>
                    <a:pt x="1452" y="11550"/>
                    <a:pt x="1848" y="11293"/>
                  </a:cubicBezTo>
                  <a:cubicBezTo>
                    <a:pt x="2410" y="10928"/>
                    <a:pt x="3111" y="10473"/>
                    <a:pt x="3670" y="9890"/>
                  </a:cubicBezTo>
                  <a:lnTo>
                    <a:pt x="4006" y="9544"/>
                  </a:lnTo>
                  <a:cubicBezTo>
                    <a:pt x="4870" y="8657"/>
                    <a:pt x="5947" y="7555"/>
                    <a:pt x="6528" y="6084"/>
                  </a:cubicBezTo>
                  <a:cubicBezTo>
                    <a:pt x="7009" y="4866"/>
                    <a:pt x="7250" y="2705"/>
                    <a:pt x="7410" y="1274"/>
                  </a:cubicBezTo>
                  <a:cubicBezTo>
                    <a:pt x="7465" y="775"/>
                    <a:pt x="7515" y="343"/>
                    <a:pt x="7558" y="87"/>
                  </a:cubicBezTo>
                  <a:lnTo>
                    <a:pt x="7048" y="0"/>
                  </a:lnTo>
                  <a:cubicBezTo>
                    <a:pt x="7002" y="269"/>
                    <a:pt x="6956" y="688"/>
                    <a:pt x="6896" y="1217"/>
                  </a:cubicBezTo>
                  <a:cubicBezTo>
                    <a:pt x="6739" y="2621"/>
                    <a:pt x="6503" y="4741"/>
                    <a:pt x="6047" y="5895"/>
                  </a:cubicBezTo>
                  <a:cubicBezTo>
                    <a:pt x="5506" y="7268"/>
                    <a:pt x="4512" y="8286"/>
                    <a:pt x="3637" y="9183"/>
                  </a:cubicBezTo>
                  <a:lnTo>
                    <a:pt x="3298" y="9533"/>
                  </a:lnTo>
                  <a:cubicBezTo>
                    <a:pt x="2779" y="10073"/>
                    <a:pt x="2136" y="10490"/>
                    <a:pt x="1568" y="10859"/>
                  </a:cubicBezTo>
                  <a:cubicBezTo>
                    <a:pt x="1145" y="11133"/>
                    <a:pt x="780" y="11369"/>
                    <a:pt x="546" y="11608"/>
                  </a:cubicBezTo>
                  <a:cubicBezTo>
                    <a:pt x="172" y="11988"/>
                    <a:pt x="0" y="12296"/>
                    <a:pt x="5" y="12578"/>
                  </a:cubicBezTo>
                  <a:cubicBezTo>
                    <a:pt x="6" y="12752"/>
                    <a:pt x="78" y="12911"/>
                    <a:pt x="211" y="13040"/>
                  </a:cubicBezTo>
                  <a:cubicBezTo>
                    <a:pt x="492" y="13309"/>
                    <a:pt x="611" y="13312"/>
                    <a:pt x="1770" y="13345"/>
                  </a:cubicBezTo>
                  <a:lnTo>
                    <a:pt x="2075" y="13354"/>
                  </a:lnTo>
                  <a:cubicBezTo>
                    <a:pt x="2547" y="13367"/>
                    <a:pt x="3149" y="13372"/>
                    <a:pt x="3843" y="13372"/>
                  </a:cubicBezTo>
                  <a:cubicBezTo>
                    <a:pt x="4476" y="13372"/>
                    <a:pt x="5185" y="13368"/>
                    <a:pt x="5944" y="13364"/>
                  </a:cubicBezTo>
                  <a:cubicBezTo>
                    <a:pt x="6836" y="13358"/>
                    <a:pt x="7802" y="13354"/>
                    <a:pt x="8802" y="13354"/>
                  </a:cubicBezTo>
                  <a:lnTo>
                    <a:pt x="29586" y="13354"/>
                  </a:lnTo>
                  <a:cubicBezTo>
                    <a:pt x="30598" y="13354"/>
                    <a:pt x="31397" y="13381"/>
                    <a:pt x="32040" y="13403"/>
                  </a:cubicBezTo>
                  <a:cubicBezTo>
                    <a:pt x="32484" y="13420"/>
                    <a:pt x="32860" y="13432"/>
                    <a:pt x="33192" y="13432"/>
                  </a:cubicBezTo>
                  <a:cubicBezTo>
                    <a:pt x="33609" y="13432"/>
                    <a:pt x="33956" y="13412"/>
                    <a:pt x="34274" y="13348"/>
                  </a:cubicBezTo>
                  <a:cubicBezTo>
                    <a:pt x="34682" y="13269"/>
                    <a:pt x="34972" y="13103"/>
                    <a:pt x="35137" y="12856"/>
                  </a:cubicBezTo>
                  <a:cubicBezTo>
                    <a:pt x="35363" y="12517"/>
                    <a:pt x="35282" y="12127"/>
                    <a:pt x="35252" y="11980"/>
                  </a:cubicBezTo>
                  <a:cubicBezTo>
                    <a:pt x="35195" y="11701"/>
                    <a:pt x="35007" y="11639"/>
                    <a:pt x="34871" y="11593"/>
                  </a:cubicBezTo>
                  <a:cubicBezTo>
                    <a:pt x="34721" y="11545"/>
                    <a:pt x="34470" y="11463"/>
                    <a:pt x="34019" y="11025"/>
                  </a:cubicBezTo>
                  <a:cubicBezTo>
                    <a:pt x="33815" y="10828"/>
                    <a:pt x="33540" y="10585"/>
                    <a:pt x="33225" y="10309"/>
                  </a:cubicBezTo>
                  <a:cubicBezTo>
                    <a:pt x="32202" y="9412"/>
                    <a:pt x="30800" y="8183"/>
                    <a:pt x="30101" y="6928"/>
                  </a:cubicBezTo>
                  <a:cubicBezTo>
                    <a:pt x="29367" y="5611"/>
                    <a:pt x="28902" y="3294"/>
                    <a:pt x="28625" y="1909"/>
                  </a:cubicBezTo>
                  <a:cubicBezTo>
                    <a:pt x="28552" y="1542"/>
                    <a:pt x="28489" y="1231"/>
                    <a:pt x="28435" y="1000"/>
                  </a:cubicBezTo>
                  <a:cubicBezTo>
                    <a:pt x="28376" y="749"/>
                    <a:pt x="28353" y="598"/>
                    <a:pt x="28346" y="510"/>
                  </a:cubicBezTo>
                  <a:cubicBezTo>
                    <a:pt x="28373" y="500"/>
                    <a:pt x="28400" y="486"/>
                    <a:pt x="28422" y="468"/>
                  </a:cubicBezTo>
                  <a:lnTo>
                    <a:pt x="28537" y="268"/>
                  </a:lnTo>
                  <a:lnTo>
                    <a:pt x="28247" y="234"/>
                  </a:lnTo>
                  <a:lnTo>
                    <a:pt x="28111" y="56"/>
                  </a:lnTo>
                  <a:cubicBezTo>
                    <a:pt x="28153" y="24"/>
                    <a:pt x="28202" y="8"/>
                    <a:pt x="28254" y="8"/>
                  </a:cubicBezTo>
                  <a:cubicBezTo>
                    <a:pt x="28256" y="8"/>
                    <a:pt x="28258" y="8"/>
                    <a:pt x="28261" y="8"/>
                  </a:cubicBezTo>
                  <a:cubicBezTo>
                    <a:pt x="28231" y="3"/>
                    <a:pt x="28203" y="0"/>
                    <a:pt x="281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2120;p64">
              <a:extLst>
                <a:ext uri="{FF2B5EF4-FFF2-40B4-BE49-F238E27FC236}">
                  <a16:creationId xmlns:a16="http://schemas.microsoft.com/office/drawing/2014/main" id="{294756EE-BE6E-59C8-7CFE-E8361FBE3931}"/>
                </a:ext>
              </a:extLst>
            </p:cNvPr>
            <p:cNvSpPr/>
            <p:nvPr/>
          </p:nvSpPr>
          <p:spPr>
            <a:xfrm>
              <a:off x="238125" y="1973675"/>
              <a:ext cx="2558775" cy="1623600"/>
            </a:xfrm>
            <a:custGeom>
              <a:avLst/>
              <a:gdLst/>
              <a:ahLst/>
              <a:cxnLst/>
              <a:rect l="l" t="t" r="r" b="b"/>
              <a:pathLst>
                <a:path w="102351" h="64944" extrusionOk="0">
                  <a:moveTo>
                    <a:pt x="99608" y="516"/>
                  </a:moveTo>
                  <a:cubicBezTo>
                    <a:pt x="100838" y="516"/>
                    <a:pt x="101835" y="1513"/>
                    <a:pt x="101835" y="2744"/>
                  </a:cubicBezTo>
                  <a:lnTo>
                    <a:pt x="101835" y="62200"/>
                  </a:lnTo>
                  <a:cubicBezTo>
                    <a:pt x="101833" y="63429"/>
                    <a:pt x="100836" y="64425"/>
                    <a:pt x="99608" y="64426"/>
                  </a:cubicBezTo>
                  <a:lnTo>
                    <a:pt x="2743" y="64426"/>
                  </a:lnTo>
                  <a:cubicBezTo>
                    <a:pt x="1514" y="64425"/>
                    <a:pt x="519" y="63429"/>
                    <a:pt x="517" y="62200"/>
                  </a:cubicBezTo>
                  <a:lnTo>
                    <a:pt x="517" y="2744"/>
                  </a:lnTo>
                  <a:cubicBezTo>
                    <a:pt x="519" y="1515"/>
                    <a:pt x="1514" y="518"/>
                    <a:pt x="2743" y="516"/>
                  </a:cubicBezTo>
                  <a:close/>
                  <a:moveTo>
                    <a:pt x="2743" y="1"/>
                  </a:moveTo>
                  <a:cubicBezTo>
                    <a:pt x="1230" y="1"/>
                    <a:pt x="0" y="1229"/>
                    <a:pt x="0" y="2744"/>
                  </a:cubicBezTo>
                  <a:lnTo>
                    <a:pt x="0" y="62200"/>
                  </a:lnTo>
                  <a:cubicBezTo>
                    <a:pt x="0" y="63713"/>
                    <a:pt x="1230" y="64943"/>
                    <a:pt x="2743" y="64943"/>
                  </a:cubicBezTo>
                  <a:lnTo>
                    <a:pt x="99608" y="64943"/>
                  </a:lnTo>
                  <a:cubicBezTo>
                    <a:pt x="101120" y="64943"/>
                    <a:pt x="102351" y="63713"/>
                    <a:pt x="102351" y="62200"/>
                  </a:cubicBezTo>
                  <a:lnTo>
                    <a:pt x="102351" y="2744"/>
                  </a:lnTo>
                  <a:cubicBezTo>
                    <a:pt x="102351" y="1228"/>
                    <a:pt x="101123" y="1"/>
                    <a:pt x="9960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2121;p64">
              <a:extLst>
                <a:ext uri="{FF2B5EF4-FFF2-40B4-BE49-F238E27FC236}">
                  <a16:creationId xmlns:a16="http://schemas.microsoft.com/office/drawing/2014/main" id="{762B1109-B261-8096-664B-2D0BD28F05C6}"/>
                </a:ext>
              </a:extLst>
            </p:cNvPr>
            <p:cNvSpPr/>
            <p:nvPr/>
          </p:nvSpPr>
          <p:spPr>
            <a:xfrm>
              <a:off x="255425" y="1991200"/>
              <a:ext cx="2524175" cy="1588500"/>
            </a:xfrm>
            <a:custGeom>
              <a:avLst/>
              <a:gdLst/>
              <a:ahLst/>
              <a:cxnLst/>
              <a:rect l="l" t="t" r="r" b="b"/>
              <a:pathLst>
                <a:path w="100967" h="63540" extrusionOk="0">
                  <a:moveTo>
                    <a:pt x="98640" y="518"/>
                  </a:moveTo>
                  <a:cubicBezTo>
                    <a:pt x="99639" y="518"/>
                    <a:pt x="100449" y="1328"/>
                    <a:pt x="100449" y="2328"/>
                  </a:cubicBezTo>
                  <a:lnTo>
                    <a:pt x="100449" y="61214"/>
                  </a:lnTo>
                  <a:cubicBezTo>
                    <a:pt x="100448" y="62212"/>
                    <a:pt x="99639" y="63022"/>
                    <a:pt x="98640" y="63024"/>
                  </a:cubicBezTo>
                  <a:lnTo>
                    <a:pt x="2328" y="63024"/>
                  </a:lnTo>
                  <a:cubicBezTo>
                    <a:pt x="1328" y="63022"/>
                    <a:pt x="519" y="62212"/>
                    <a:pt x="517" y="61214"/>
                  </a:cubicBezTo>
                  <a:lnTo>
                    <a:pt x="517" y="2328"/>
                  </a:lnTo>
                  <a:cubicBezTo>
                    <a:pt x="519" y="1328"/>
                    <a:pt x="1328" y="519"/>
                    <a:pt x="2328" y="518"/>
                  </a:cubicBezTo>
                  <a:close/>
                  <a:moveTo>
                    <a:pt x="2328" y="1"/>
                  </a:moveTo>
                  <a:cubicBezTo>
                    <a:pt x="1042" y="2"/>
                    <a:pt x="2" y="1043"/>
                    <a:pt x="0" y="2328"/>
                  </a:cubicBezTo>
                  <a:lnTo>
                    <a:pt x="0" y="61214"/>
                  </a:lnTo>
                  <a:cubicBezTo>
                    <a:pt x="2" y="62498"/>
                    <a:pt x="1042" y="63538"/>
                    <a:pt x="2328" y="63540"/>
                  </a:cubicBezTo>
                  <a:lnTo>
                    <a:pt x="98640" y="63540"/>
                  </a:lnTo>
                  <a:cubicBezTo>
                    <a:pt x="99925" y="63538"/>
                    <a:pt x="100965" y="62498"/>
                    <a:pt x="100967" y="61214"/>
                  </a:cubicBezTo>
                  <a:lnTo>
                    <a:pt x="100967" y="2328"/>
                  </a:lnTo>
                  <a:cubicBezTo>
                    <a:pt x="100967" y="1043"/>
                    <a:pt x="99925" y="1"/>
                    <a:pt x="9864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2122;p64">
              <a:extLst>
                <a:ext uri="{FF2B5EF4-FFF2-40B4-BE49-F238E27FC236}">
                  <a16:creationId xmlns:a16="http://schemas.microsoft.com/office/drawing/2014/main" id="{B7DA9CDC-90E7-610C-2BF0-59430E18ABC7}"/>
                </a:ext>
              </a:extLst>
            </p:cNvPr>
            <p:cNvSpPr/>
            <p:nvPr/>
          </p:nvSpPr>
          <p:spPr>
            <a:xfrm>
              <a:off x="1091150" y="3888075"/>
              <a:ext cx="856825" cy="25"/>
            </a:xfrm>
            <a:custGeom>
              <a:avLst/>
              <a:gdLst/>
              <a:ahLst/>
              <a:cxnLst/>
              <a:rect l="l" t="t" r="r" b="b"/>
              <a:pathLst>
                <a:path w="34273" h="1" extrusionOk="0">
                  <a:moveTo>
                    <a:pt x="1" y="0"/>
                  </a:moveTo>
                  <a:lnTo>
                    <a:pt x="34272" y="0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2123;p64">
              <a:extLst>
                <a:ext uri="{FF2B5EF4-FFF2-40B4-BE49-F238E27FC236}">
                  <a16:creationId xmlns:a16="http://schemas.microsoft.com/office/drawing/2014/main" id="{36C1B31E-E569-F64A-1408-557D14368E18}"/>
                </a:ext>
              </a:extLst>
            </p:cNvPr>
            <p:cNvSpPr/>
            <p:nvPr/>
          </p:nvSpPr>
          <p:spPr>
            <a:xfrm>
              <a:off x="1091125" y="3881600"/>
              <a:ext cx="856850" cy="12925"/>
            </a:xfrm>
            <a:custGeom>
              <a:avLst/>
              <a:gdLst/>
              <a:ahLst/>
              <a:cxnLst/>
              <a:rect l="l" t="t" r="r" b="b"/>
              <a:pathLst>
                <a:path w="34274" h="517" extrusionOk="0">
                  <a:moveTo>
                    <a:pt x="0" y="1"/>
                  </a:moveTo>
                  <a:lnTo>
                    <a:pt x="0" y="516"/>
                  </a:lnTo>
                  <a:lnTo>
                    <a:pt x="34273" y="516"/>
                  </a:lnTo>
                  <a:lnTo>
                    <a:pt x="3427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3" name="Kép 12" descr="A képen szöveg, képernyőkép, Betűtípus, tervezés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944CF31A-B69A-9E59-3596-D1AB94C5C6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1157" y="749807"/>
            <a:ext cx="2669072" cy="1562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60764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>
          <a:extLst>
            <a:ext uri="{FF2B5EF4-FFF2-40B4-BE49-F238E27FC236}">
              <a16:creationId xmlns:a16="http://schemas.microsoft.com/office/drawing/2014/main" id="{AA713024-9A8C-F4E1-1072-35325F81C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9">
            <a:extLst>
              <a:ext uri="{FF2B5EF4-FFF2-40B4-BE49-F238E27FC236}">
                <a16:creationId xmlns:a16="http://schemas.microsoft.com/office/drawing/2014/main" id="{2E205694-F6F7-F272-C0BB-15470EB44BB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hu-HU" dirty="0"/>
              <a:t>TESZTELÉSI STRATÉGIA</a:t>
            </a:r>
            <a:endParaRPr dirty="0"/>
          </a:p>
        </p:txBody>
      </p:sp>
      <p:sp>
        <p:nvSpPr>
          <p:cNvPr id="171" name="Google Shape;171;p39">
            <a:extLst>
              <a:ext uri="{FF2B5EF4-FFF2-40B4-BE49-F238E27FC236}">
                <a16:creationId xmlns:a16="http://schemas.microsoft.com/office/drawing/2014/main" id="{62DE07D6-2C0B-CF02-7078-74E6902337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38500" y="1246025"/>
            <a:ext cx="7172100" cy="35914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hu-HU" sz="1200" b="1" dirty="0"/>
              <a:t>Tesztelt szoftver:</a:t>
            </a:r>
            <a:r>
              <a:rPr lang="hu-HU" sz="1200" dirty="0"/>
              <a:t> </a:t>
            </a:r>
            <a:r>
              <a:rPr lang="hu-HU" sz="1200" dirty="0" err="1"/>
              <a:t>Automatic</a:t>
            </a:r>
            <a:r>
              <a:rPr lang="hu-HU" sz="1200" dirty="0"/>
              <a:t> Parking </a:t>
            </a:r>
            <a:r>
              <a:rPr lang="hu-HU" sz="1200" dirty="0" err="1"/>
              <a:t>Simulation</a:t>
            </a:r>
            <a:r>
              <a:rPr lang="hu-HU" sz="1200" dirty="0"/>
              <a:t> (1. Csapat).</a:t>
            </a:r>
          </a:p>
          <a:p>
            <a:pPr marL="0" lvl="0" indent="0">
              <a:buNone/>
            </a:pPr>
            <a:endParaRPr dirty="0"/>
          </a:p>
          <a:p>
            <a:pPr marL="0" lvl="0" indent="0">
              <a:spcAft>
                <a:spcPts val="1600"/>
              </a:spcAft>
              <a:buNone/>
            </a:pPr>
            <a:r>
              <a:rPr lang="hu-HU" sz="1200" b="1" dirty="0"/>
              <a:t>Fő tesztelők:</a:t>
            </a:r>
            <a:r>
              <a:rPr lang="hu-HU" sz="1200" dirty="0"/>
              <a:t> Lőrincz Márton (Tesztvezető), Csikós Bendegúz</a:t>
            </a:r>
          </a:p>
          <a:p>
            <a:pPr marL="0" lvl="0" indent="0">
              <a:spcAft>
                <a:spcPts val="1600"/>
              </a:spcAft>
              <a:buNone/>
            </a:pPr>
            <a:r>
              <a:rPr lang="hu-HU" sz="1200" dirty="0"/>
              <a:t>Specifikáció tesztelése</a:t>
            </a:r>
          </a:p>
          <a:p>
            <a:pPr marL="0" lvl="0" indent="0">
              <a:spcAft>
                <a:spcPts val="1600"/>
              </a:spcAft>
              <a:buNone/>
            </a:pPr>
            <a:r>
              <a:rPr lang="hu-HU" sz="1200" dirty="0"/>
              <a:t>A specifikációnak megfelelő tesztek elvégzése</a:t>
            </a:r>
          </a:p>
          <a:p>
            <a:pPr marL="0" lvl="0" indent="0">
              <a:spcAft>
                <a:spcPts val="1600"/>
              </a:spcAft>
              <a:buNone/>
            </a:pPr>
            <a:r>
              <a:rPr lang="hu-HU" sz="1200" b="1" dirty="0"/>
              <a:t>Módszertan:</a:t>
            </a:r>
          </a:p>
          <a:p>
            <a:pPr marL="171450" indent="-171450">
              <a:spcAft>
                <a:spcPts val="1600"/>
              </a:spcAft>
            </a:pPr>
            <a:r>
              <a:rPr lang="hu-HU" sz="1200" b="1" dirty="0"/>
              <a:t>Statikus tesztelés</a:t>
            </a:r>
            <a:r>
              <a:rPr lang="hu-HU" sz="1200" dirty="0"/>
              <a:t>:  Dokumentáció alapú elemzés (Specifikáció ellenőrzése).</a:t>
            </a:r>
          </a:p>
          <a:p>
            <a:pPr marL="171450" indent="-171450">
              <a:spcAft>
                <a:spcPts val="1600"/>
              </a:spcAft>
            </a:pPr>
            <a:r>
              <a:rPr lang="hu-HU" sz="1200" b="1" dirty="0"/>
              <a:t>Dinamikus tesztelés: </a:t>
            </a:r>
            <a:r>
              <a:rPr lang="hu-HU" sz="1200" dirty="0"/>
              <a:t>Feketedobozos tesztelés (Black-</a:t>
            </a:r>
            <a:r>
              <a:rPr lang="hu-HU" sz="1200" dirty="0" err="1"/>
              <a:t>box</a:t>
            </a:r>
            <a:r>
              <a:rPr lang="hu-HU" sz="1200" dirty="0"/>
              <a:t>), Rendszerteszt szint.</a:t>
            </a:r>
          </a:p>
          <a:p>
            <a:pPr marL="0" lvl="0" indent="0">
              <a:spcAft>
                <a:spcPts val="1600"/>
              </a:spcAft>
              <a:buNone/>
            </a:pPr>
            <a:r>
              <a:rPr lang="hu-HU" sz="1200" dirty="0"/>
              <a:t>Környezet: Windows 11, Java 21.</a:t>
            </a:r>
          </a:p>
          <a:p>
            <a:pPr marL="0" lvl="0" indent="0">
              <a:spcAft>
                <a:spcPts val="1600"/>
              </a:spcAft>
              <a:buNone/>
            </a:pPr>
            <a:r>
              <a:rPr lang="hu-HU" sz="1600" b="1" dirty="0"/>
              <a:t>EREDMÉNYEK: </a:t>
            </a:r>
            <a:r>
              <a:rPr lang="hu-HU" sz="1600" dirty="0"/>
              <a:t>Kielégítőek</a:t>
            </a:r>
            <a:endParaRPr lang="hu-HU" sz="1200" dirty="0"/>
          </a:p>
        </p:txBody>
      </p:sp>
      <p:cxnSp>
        <p:nvCxnSpPr>
          <p:cNvPr id="172" name="Google Shape;172;p39">
            <a:extLst>
              <a:ext uri="{FF2B5EF4-FFF2-40B4-BE49-F238E27FC236}">
                <a16:creationId xmlns:a16="http://schemas.microsoft.com/office/drawing/2014/main" id="{D19BA68E-A75B-10FB-3417-5E47C7E68204}"/>
              </a:ext>
            </a:extLst>
          </p:cNvPr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" name="AutoShape 4">
            <a:extLst>
              <a:ext uri="{FF2B5EF4-FFF2-40B4-BE49-F238E27FC236}">
                <a16:creationId xmlns:a16="http://schemas.microsoft.com/office/drawing/2014/main" id="{E75DE782-19D9-5CF0-AC51-936C808DDF0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1041626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>
          <a:extLst>
            <a:ext uri="{FF2B5EF4-FFF2-40B4-BE49-F238E27FC236}">
              <a16:creationId xmlns:a16="http://schemas.microsoft.com/office/drawing/2014/main" id="{477302E9-054D-E249-EC82-D4DFCA66B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9">
            <a:extLst>
              <a:ext uri="{FF2B5EF4-FFF2-40B4-BE49-F238E27FC236}">
                <a16:creationId xmlns:a16="http://schemas.microsoft.com/office/drawing/2014/main" id="{A7282789-5B18-E4E5-BC92-80A27F12C1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hu-HU" cap="all" dirty="0"/>
              <a:t>Statikus tesztelés:</a:t>
            </a:r>
            <a:br>
              <a:rPr lang="hu-HU" dirty="0"/>
            </a:br>
            <a:r>
              <a:rPr lang="hu-HU" sz="2000" dirty="0"/>
              <a:t>A Specifikáció hibái</a:t>
            </a:r>
            <a:endParaRPr dirty="0"/>
          </a:p>
        </p:txBody>
      </p:sp>
      <p:sp>
        <p:nvSpPr>
          <p:cNvPr id="171" name="Google Shape;171;p39">
            <a:extLst>
              <a:ext uri="{FF2B5EF4-FFF2-40B4-BE49-F238E27FC236}">
                <a16:creationId xmlns:a16="http://schemas.microsoft.com/office/drawing/2014/main" id="{544FDAE0-9CC3-89FF-8924-EE04BB767C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38500" y="1246025"/>
            <a:ext cx="7172100" cy="35914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hu-HU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Nyelvfüggetlenség sérülése: </a:t>
            </a:r>
          </a:p>
          <a:p>
            <a:pPr marL="171450" indent="-171450">
              <a:spcBef>
                <a:spcPts val="600"/>
              </a:spcBef>
              <a:spcAft>
                <a:spcPts val="600"/>
              </a:spcAft>
            </a:pPr>
            <a:r>
              <a:rPr lang="hu-HU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Java-hoz kötött specifikáció, nem absztrakt üzleti logikát írt le.</a:t>
            </a:r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hu-HU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Inkonzisztencia: </a:t>
            </a:r>
          </a:p>
          <a:p>
            <a:pPr marL="171450" indent="-171450">
              <a:spcBef>
                <a:spcPts val="600"/>
              </a:spcBef>
              <a:spcAft>
                <a:spcPts val="600"/>
              </a:spcAft>
            </a:pPr>
            <a:r>
              <a:rPr lang="hu-HU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visszajáró kiadása változó címletsorrendben volt definiálva -&gt; Tesztelhetetlen.</a:t>
            </a:r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hu-HU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Tisztázatlan fogalmak: </a:t>
            </a:r>
          </a:p>
          <a:p>
            <a:pPr marL="171450" indent="-171450">
              <a:spcBef>
                <a:spcPts val="600"/>
              </a:spcBef>
              <a:spcAft>
                <a:spcPts val="600"/>
              </a:spcAft>
            </a:pPr>
            <a:r>
              <a:rPr lang="hu-HU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"Limit" szó egyszerre jelentett kasszaegyenleget és </a:t>
            </a:r>
            <a:r>
              <a:rPr lang="hu-HU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admin</a:t>
            </a:r>
            <a:r>
              <a:rPr lang="hu-HU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konfigurációs korlátot.</a:t>
            </a:r>
            <a:r>
              <a:rPr lang="hu-HU" sz="1200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</a:p>
          <a:p>
            <a:pPr marL="0" indent="0">
              <a:buNone/>
            </a:pPr>
            <a:endParaRPr lang="hu-HU" sz="1200" i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0" indent="0">
              <a:buNone/>
            </a:pPr>
            <a:r>
              <a:rPr lang="hu-HU" sz="1200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(Forrás: Parkolóautomata_specifikacio_jegyzokonyv.docx)</a:t>
            </a:r>
          </a:p>
          <a:p>
            <a:pPr marL="0" lvl="0" indent="0">
              <a:buNone/>
            </a:pPr>
            <a:endParaRPr lang="hu-HU" sz="1200" dirty="0"/>
          </a:p>
        </p:txBody>
      </p:sp>
      <p:cxnSp>
        <p:nvCxnSpPr>
          <p:cNvPr id="172" name="Google Shape;172;p39">
            <a:extLst>
              <a:ext uri="{FF2B5EF4-FFF2-40B4-BE49-F238E27FC236}">
                <a16:creationId xmlns:a16="http://schemas.microsoft.com/office/drawing/2014/main" id="{7EF6EC98-CC21-6ACC-74AF-5D6CC4330370}"/>
              </a:ext>
            </a:extLst>
          </p:cNvPr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" name="AutoShape 4">
            <a:extLst>
              <a:ext uri="{FF2B5EF4-FFF2-40B4-BE49-F238E27FC236}">
                <a16:creationId xmlns:a16="http://schemas.microsoft.com/office/drawing/2014/main" id="{BA55B4E8-CA26-0804-9C78-B73279A1F4C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6023006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>
          <a:extLst>
            <a:ext uri="{FF2B5EF4-FFF2-40B4-BE49-F238E27FC236}">
              <a16:creationId xmlns:a16="http://schemas.microsoft.com/office/drawing/2014/main" id="{DF0D536C-6C02-6244-03AF-3DC671F24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9">
            <a:extLst>
              <a:ext uri="{FF2B5EF4-FFF2-40B4-BE49-F238E27FC236}">
                <a16:creationId xmlns:a16="http://schemas.microsoft.com/office/drawing/2014/main" id="{ADC9D915-3663-D565-CC25-76E974E9B99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hu-HU" cap="all" dirty="0"/>
              <a:t>Statikus tesztelés:</a:t>
            </a:r>
            <a:br>
              <a:rPr lang="hu-HU" dirty="0"/>
            </a:br>
            <a:r>
              <a:rPr lang="hu-HU" sz="2000" dirty="0"/>
              <a:t>Kritikus tervezési hiányosságok</a:t>
            </a:r>
            <a:endParaRPr dirty="0"/>
          </a:p>
        </p:txBody>
      </p:sp>
      <p:sp>
        <p:nvSpPr>
          <p:cNvPr id="171" name="Google Shape;171;p39">
            <a:extLst>
              <a:ext uri="{FF2B5EF4-FFF2-40B4-BE49-F238E27FC236}">
                <a16:creationId xmlns:a16="http://schemas.microsoft.com/office/drawing/2014/main" id="{2D31E8AD-4107-B710-75A8-8F8D7677DA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38500" y="1246025"/>
            <a:ext cx="7172100" cy="35914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hu-HU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Hibakezelés problémája: </a:t>
            </a:r>
          </a:p>
          <a:p>
            <a:pPr marL="171450" indent="-171450">
              <a:spcBef>
                <a:spcPts val="600"/>
              </a:spcBef>
              <a:spcAft>
                <a:spcPts val="600"/>
              </a:spcAft>
            </a:pPr>
            <a:r>
              <a:rPr lang="hu-HU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specifikáció szerint kritikus hiba (pl. </a:t>
            </a:r>
            <a:r>
              <a:rPr lang="hu-HU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LimitExceededException</a:t>
            </a:r>
            <a:r>
              <a:rPr lang="hu-HU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) esetén a program teljesen leáll.</a:t>
            </a:r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hu-HU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Értékelés</a:t>
            </a:r>
            <a:r>
              <a:rPr lang="hu-HU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: </a:t>
            </a:r>
          </a:p>
          <a:p>
            <a:pPr marL="171450" indent="-171450">
              <a:spcBef>
                <a:spcPts val="600"/>
              </a:spcBef>
              <a:spcAft>
                <a:spcPts val="600"/>
              </a:spcAft>
            </a:pPr>
            <a:r>
              <a:rPr lang="hu-HU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Egy köztéri automatánál ez elfogadhatatlan (nem indul újra, beavatkozás szükséges)</a:t>
            </a:r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hu-HU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Mérhetetlenség</a:t>
            </a:r>
            <a:r>
              <a:rPr lang="hu-HU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: </a:t>
            </a:r>
          </a:p>
          <a:p>
            <a:pPr marL="171450" indent="-171450">
              <a:spcBef>
                <a:spcPts val="600"/>
              </a:spcBef>
              <a:spcAft>
                <a:spcPts val="600"/>
              </a:spcAft>
            </a:pPr>
            <a:r>
              <a:rPr lang="hu-HU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nem-funkcionális követelmények (pl. "gyors", "biztonságos") nem voltak számszerűsítve.</a:t>
            </a:r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hu-HU" sz="1200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(Forrás: Parkolóautomata_specifikacio_jegyzokonyv.docx)</a:t>
            </a:r>
            <a:endParaRPr lang="hu-HU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171450" indent="-171450">
              <a:spcBef>
                <a:spcPts val="600"/>
              </a:spcBef>
              <a:spcAft>
                <a:spcPts val="600"/>
              </a:spcAft>
            </a:pPr>
            <a:endParaRPr lang="hu-HU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0" lvl="0" indent="0">
              <a:buNone/>
            </a:pPr>
            <a:endParaRPr lang="hu-HU" sz="1200" dirty="0"/>
          </a:p>
        </p:txBody>
      </p:sp>
      <p:cxnSp>
        <p:nvCxnSpPr>
          <p:cNvPr id="172" name="Google Shape;172;p39">
            <a:extLst>
              <a:ext uri="{FF2B5EF4-FFF2-40B4-BE49-F238E27FC236}">
                <a16:creationId xmlns:a16="http://schemas.microsoft.com/office/drawing/2014/main" id="{03F9AB2A-E6C9-55BC-41BE-46A3C3B358B0}"/>
              </a:ext>
            </a:extLst>
          </p:cNvPr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" name="AutoShape 4">
            <a:extLst>
              <a:ext uri="{FF2B5EF4-FFF2-40B4-BE49-F238E27FC236}">
                <a16:creationId xmlns:a16="http://schemas.microsoft.com/office/drawing/2014/main" id="{9AE846A8-05B4-78AF-42CB-1C83C4EF975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3379154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>
          <a:extLst>
            <a:ext uri="{FF2B5EF4-FFF2-40B4-BE49-F238E27FC236}">
              <a16:creationId xmlns:a16="http://schemas.microsoft.com/office/drawing/2014/main" id="{89BFC511-E131-F02A-8451-8BC0025CF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9">
            <a:extLst>
              <a:ext uri="{FF2B5EF4-FFF2-40B4-BE49-F238E27FC236}">
                <a16:creationId xmlns:a16="http://schemas.microsoft.com/office/drawing/2014/main" id="{65058D68-C371-E630-9109-C3E1157B7E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hu-HU" cap="all" dirty="0"/>
              <a:t>Dinamikus tesztelés:</a:t>
            </a:r>
            <a:br>
              <a:rPr lang="hu-HU" dirty="0"/>
            </a:br>
            <a:r>
              <a:rPr lang="hu-HU" sz="2000" dirty="0"/>
              <a:t>Végrehajtás</a:t>
            </a:r>
            <a:endParaRPr dirty="0"/>
          </a:p>
        </p:txBody>
      </p:sp>
      <p:sp>
        <p:nvSpPr>
          <p:cNvPr id="171" name="Google Shape;171;p39">
            <a:extLst>
              <a:ext uri="{FF2B5EF4-FFF2-40B4-BE49-F238E27FC236}">
                <a16:creationId xmlns:a16="http://schemas.microsoft.com/office/drawing/2014/main" id="{4352E59E-1FEE-52C5-9FCF-1804D007EF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38500" y="1246025"/>
            <a:ext cx="7172100" cy="35914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hu-HU" sz="1200" b="1" dirty="0"/>
              <a:t>Verzió</a:t>
            </a:r>
            <a:r>
              <a:rPr lang="hu-HU" sz="1200" dirty="0"/>
              <a:t>: v2.0 tesztelése (a v1.0 hibáinak javítása után).</a:t>
            </a:r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hu-HU" sz="1200" b="1" dirty="0"/>
              <a:t>Teszt típusok</a:t>
            </a:r>
            <a:r>
              <a:rPr lang="hu-HU" sz="1200" dirty="0"/>
              <a:t>: Funkcionális tesztek (System Testing).</a:t>
            </a:r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hu-HU" sz="1200" b="1" dirty="0"/>
              <a:t>Tesztesetek</a:t>
            </a:r>
            <a:r>
              <a:rPr lang="hu-HU" sz="1200" dirty="0"/>
              <a:t>:</a:t>
            </a:r>
          </a:p>
          <a:p>
            <a:pPr marL="171450" indent="-171450">
              <a:spcBef>
                <a:spcPts val="600"/>
              </a:spcBef>
              <a:spcAft>
                <a:spcPts val="600"/>
              </a:spcAft>
            </a:pPr>
            <a:r>
              <a:rPr lang="hu-HU" sz="1200" dirty="0"/>
              <a:t>Adminisztrátori funkciók (Belépés, Pénzfeltöltés, </a:t>
            </a:r>
            <a:r>
              <a:rPr lang="hu-HU" sz="1200" dirty="0" err="1"/>
              <a:t>Balance</a:t>
            </a:r>
            <a:r>
              <a:rPr lang="hu-HU" sz="1200" dirty="0"/>
              <a:t> lekérdezés).</a:t>
            </a:r>
          </a:p>
          <a:p>
            <a:pPr marL="171450" indent="-171450">
              <a:spcBef>
                <a:spcPts val="600"/>
              </a:spcBef>
              <a:spcAft>
                <a:spcPts val="600"/>
              </a:spcAft>
            </a:pPr>
            <a:r>
              <a:rPr lang="hu-HU" sz="1200" dirty="0"/>
              <a:t>Felhasználói folyamatok (Parkolás indítása, Fizetés).</a:t>
            </a:r>
          </a:p>
          <a:p>
            <a:pPr marL="171450" indent="-171450">
              <a:spcBef>
                <a:spcPts val="600"/>
              </a:spcBef>
              <a:spcAft>
                <a:spcPts val="600"/>
              </a:spcAft>
            </a:pPr>
            <a:r>
              <a:rPr lang="hu-HU" sz="1200" dirty="0"/>
              <a:t>Teljes állapotátmenet tesztelés implementálása</a:t>
            </a:r>
          </a:p>
          <a:p>
            <a:pPr marL="171450" indent="-171450">
              <a:spcBef>
                <a:spcPts val="600"/>
              </a:spcBef>
              <a:spcAft>
                <a:spcPts val="600"/>
              </a:spcAft>
            </a:pPr>
            <a:r>
              <a:rPr lang="hu-HU" sz="1200" dirty="0"/>
              <a:t>Határérték-analízis</a:t>
            </a:r>
          </a:p>
          <a:p>
            <a:pPr marL="171450" indent="-171450">
              <a:spcBef>
                <a:spcPts val="600"/>
              </a:spcBef>
              <a:spcAft>
                <a:spcPts val="600"/>
              </a:spcAft>
            </a:pPr>
            <a:r>
              <a:rPr lang="hu-HU" sz="1200" dirty="0"/>
              <a:t>Példa teszteset (TE-A-05-1): </a:t>
            </a:r>
            <a:r>
              <a:rPr lang="hu-HU" sz="1200" dirty="0" err="1"/>
              <a:t>Balance</a:t>
            </a:r>
            <a:r>
              <a:rPr lang="hu-HU" sz="1200" dirty="0"/>
              <a:t> menü megnyitása -&gt; Sikeres (PASS).</a:t>
            </a:r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hu-HU" sz="1200" i="1" dirty="0"/>
              <a:t>(Forrás: SZOFTVERTESZTELÉSI JEGYZŐKÖNYV.docx)</a:t>
            </a:r>
            <a:endParaRPr lang="hu-HU" sz="1200" dirty="0"/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endParaRPr lang="hu-HU" sz="1200" dirty="0"/>
          </a:p>
        </p:txBody>
      </p:sp>
      <p:cxnSp>
        <p:nvCxnSpPr>
          <p:cNvPr id="172" name="Google Shape;172;p39">
            <a:extLst>
              <a:ext uri="{FF2B5EF4-FFF2-40B4-BE49-F238E27FC236}">
                <a16:creationId xmlns:a16="http://schemas.microsoft.com/office/drawing/2014/main" id="{1C591A82-7929-83C7-42C3-A786E10801A5}"/>
              </a:ext>
            </a:extLst>
          </p:cNvPr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" name="AutoShape 4">
            <a:extLst>
              <a:ext uri="{FF2B5EF4-FFF2-40B4-BE49-F238E27FC236}">
                <a16:creationId xmlns:a16="http://schemas.microsoft.com/office/drawing/2014/main" id="{0EC51975-01C0-E5CF-8438-FD7FB128CBB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0110167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>
          <a:extLst>
            <a:ext uri="{FF2B5EF4-FFF2-40B4-BE49-F238E27FC236}">
              <a16:creationId xmlns:a16="http://schemas.microsoft.com/office/drawing/2014/main" id="{4648FFB4-8229-D107-E456-C0F9FD523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9">
            <a:extLst>
              <a:ext uri="{FF2B5EF4-FFF2-40B4-BE49-F238E27FC236}">
                <a16:creationId xmlns:a16="http://schemas.microsoft.com/office/drawing/2014/main" id="{667C3B11-63F8-E8DC-933C-EAEA679E4D5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hu-HU" cap="all" dirty="0"/>
              <a:t>Eredmények és Hibajegyek</a:t>
            </a:r>
            <a:endParaRPr cap="all" dirty="0"/>
          </a:p>
        </p:txBody>
      </p:sp>
      <p:sp>
        <p:nvSpPr>
          <p:cNvPr id="171" name="Google Shape;171;p39">
            <a:extLst>
              <a:ext uri="{FF2B5EF4-FFF2-40B4-BE49-F238E27FC236}">
                <a16:creationId xmlns:a16="http://schemas.microsoft.com/office/drawing/2014/main" id="{4A3B30FA-C1D4-0AE0-EEA9-4526860BEA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38500" y="1246025"/>
            <a:ext cx="7172100" cy="35914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hu-HU" sz="1200" b="1" dirty="0"/>
              <a:t>Javított hibák: </a:t>
            </a:r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hu-HU" sz="1200" dirty="0"/>
              <a:t>Az 1.0-ás verzió hibái a tesztelés hatására javításra kerültek.</a:t>
            </a:r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hu-HU" sz="1200" b="1" dirty="0"/>
              <a:t>Végső állapot (v2.0):</a:t>
            </a:r>
          </a:p>
          <a:p>
            <a:pPr marL="171450" indent="-171450">
              <a:spcBef>
                <a:spcPts val="600"/>
              </a:spcBef>
              <a:spcAft>
                <a:spcPts val="600"/>
              </a:spcAft>
            </a:pPr>
            <a:r>
              <a:rPr lang="hu-HU" sz="1200" b="1" dirty="0" err="1"/>
              <a:t>Admin</a:t>
            </a:r>
            <a:r>
              <a:rPr lang="hu-HU" sz="1200" b="1" dirty="0"/>
              <a:t> funkciók: </a:t>
            </a:r>
            <a:r>
              <a:rPr lang="hu-HU" sz="1200" dirty="0"/>
              <a:t>Megfelelően működnek.</a:t>
            </a:r>
          </a:p>
          <a:p>
            <a:pPr marL="171450" indent="-171450">
              <a:spcBef>
                <a:spcPts val="600"/>
              </a:spcBef>
              <a:spcAft>
                <a:spcPts val="600"/>
              </a:spcAft>
            </a:pPr>
            <a:r>
              <a:rPr lang="hu-HU" sz="1200" b="1" dirty="0"/>
              <a:t>Fizetési folyamat</a:t>
            </a:r>
            <a:r>
              <a:rPr lang="hu-HU" sz="1200" dirty="0"/>
              <a:t>: Stabil.</a:t>
            </a:r>
          </a:p>
          <a:p>
            <a:pPr marL="171450" indent="-171450">
              <a:spcBef>
                <a:spcPts val="600"/>
              </a:spcBef>
              <a:spcAft>
                <a:spcPts val="600"/>
              </a:spcAft>
            </a:pPr>
            <a:r>
              <a:rPr lang="hu-HU" sz="1200" b="1" dirty="0"/>
              <a:t>Kivételkezelés</a:t>
            </a:r>
            <a:r>
              <a:rPr lang="hu-HU" sz="1200" dirty="0"/>
              <a:t>: A specifikáció hibái ellenére a szoftver működőképes lett.</a:t>
            </a:r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endParaRPr lang="hu-HU" sz="1200" dirty="0"/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hu-HU" sz="1600" b="1" dirty="0"/>
              <a:t>Összesített eredmény: A szoftver átment a teszteken (PASS).</a:t>
            </a:r>
          </a:p>
        </p:txBody>
      </p:sp>
      <p:cxnSp>
        <p:nvCxnSpPr>
          <p:cNvPr id="172" name="Google Shape;172;p39">
            <a:extLst>
              <a:ext uri="{FF2B5EF4-FFF2-40B4-BE49-F238E27FC236}">
                <a16:creationId xmlns:a16="http://schemas.microsoft.com/office/drawing/2014/main" id="{22E3C322-7743-9ACA-7FAF-3EE787448D6E}"/>
              </a:ext>
            </a:extLst>
          </p:cNvPr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" name="AutoShape 4">
            <a:extLst>
              <a:ext uri="{FF2B5EF4-FFF2-40B4-BE49-F238E27FC236}">
                <a16:creationId xmlns:a16="http://schemas.microsoft.com/office/drawing/2014/main" id="{75FD4015-2B12-479A-D074-A073795E76D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9660487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9" name="Google Shape;2089;p62"/>
          <p:cNvSpPr txBox="1">
            <a:spLocks noGrp="1"/>
          </p:cNvSpPr>
          <p:nvPr>
            <p:ph type="subTitle" idx="1"/>
          </p:nvPr>
        </p:nvSpPr>
        <p:spPr>
          <a:xfrm>
            <a:off x="938500" y="1604194"/>
            <a:ext cx="2871600" cy="262970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Aft>
                <a:spcPts val="600"/>
              </a:spcAft>
            </a:pPr>
            <a:r>
              <a:rPr lang="hu-HU" b="1" dirty="0"/>
              <a:t>Saját projekt:</a:t>
            </a:r>
            <a:r>
              <a:rPr lang="hu-HU" dirty="0"/>
              <a:t> </a:t>
            </a:r>
          </a:p>
          <a:p>
            <a:pPr marL="0" lvl="0" indent="0"/>
            <a:r>
              <a:rPr lang="hu-HU" dirty="0"/>
              <a:t>Sikeresen implementáltuk a követelményeket, a külső tesztelés során feltárt hibákat maradék nélkül kijavítottuk.</a:t>
            </a:r>
            <a:br>
              <a:rPr lang="hu-HU" dirty="0"/>
            </a:br>
            <a:br>
              <a:rPr lang="hu-HU" dirty="0"/>
            </a:br>
            <a:r>
              <a:rPr lang="hu-HU" sz="20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Ismert hibák: 0</a:t>
            </a:r>
            <a:endParaRPr b="1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090" name="Google Shape;2090;p62"/>
          <p:cNvSpPr txBox="1">
            <a:spLocks noGrp="1"/>
          </p:cNvSpPr>
          <p:nvPr>
            <p:ph type="body" idx="2"/>
          </p:nvPr>
        </p:nvSpPr>
        <p:spPr>
          <a:xfrm>
            <a:off x="4703374" y="909600"/>
            <a:ext cx="3881825" cy="332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lvl="0" indent="0" algn="l" rtl="0">
              <a:spcBef>
                <a:spcPts val="600"/>
              </a:spcBef>
              <a:spcAft>
                <a:spcPts val="600"/>
              </a:spcAft>
              <a:buClr>
                <a:schemeClr val="lt1"/>
              </a:buClr>
              <a:buSzPts val="1400"/>
              <a:buNone/>
            </a:pPr>
            <a:r>
              <a:rPr lang="hu-HU" sz="1600" b="1" dirty="0"/>
              <a:t>Parkolóautomata Tesztelés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hu-HU" dirty="0">
                <a:solidFill>
                  <a:schemeClr val="lt1"/>
                </a:solidFill>
              </a:rPr>
              <a:t>A specifikáció minősége alapvetően meghatározza a tesztelhetőséget.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hu-HU" dirty="0">
                <a:solidFill>
                  <a:schemeClr val="lt1"/>
                </a:solidFill>
              </a:rPr>
              <a:t>A statikus tesztelés (dokumentáció olvasása) rengeteg logikai hibát tárt fel még kódolás előtt.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hu-HU" dirty="0">
                <a:solidFill>
                  <a:schemeClr val="lt1"/>
                </a:solidFill>
              </a:rPr>
              <a:t>A feketedobozos teszteléssel sikerült </a:t>
            </a:r>
            <a:r>
              <a:rPr lang="hu-HU" dirty="0" err="1">
                <a:solidFill>
                  <a:schemeClr val="lt1"/>
                </a:solidFill>
              </a:rPr>
              <a:t>validálni</a:t>
            </a:r>
            <a:r>
              <a:rPr lang="hu-HU" dirty="0">
                <a:solidFill>
                  <a:schemeClr val="lt1"/>
                </a:solidFill>
              </a:rPr>
              <a:t> a felhasználói élményt.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hu-HU" dirty="0">
                <a:solidFill>
                  <a:schemeClr val="lt1"/>
                </a:solidFill>
              </a:rPr>
              <a:t>95%-os lefedettség a tesztelés során, nincs ismert hiba a szoftverben. </a:t>
            </a:r>
          </a:p>
          <a:p>
            <a:pPr marL="13970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</a:pPr>
            <a:endParaRPr b="1" dirty="0">
              <a:solidFill>
                <a:schemeClr val="lt1"/>
              </a:solidFill>
            </a:endParaRPr>
          </a:p>
        </p:txBody>
      </p:sp>
      <p:sp>
        <p:nvSpPr>
          <p:cNvPr id="2091" name="Google Shape;2091;p62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32238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hu-HU" cap="all" dirty="0"/>
              <a:t>Összegzés és Tanulságok</a:t>
            </a:r>
            <a:endParaRPr cap="all" dirty="0"/>
          </a:p>
        </p:txBody>
      </p:sp>
      <p:cxnSp>
        <p:nvCxnSpPr>
          <p:cNvPr id="2092" name="Google Shape;2092;p62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9"/>
          <p:cNvSpPr txBox="1">
            <a:spLocks noGrp="1"/>
          </p:cNvSpPr>
          <p:nvPr>
            <p:ph type="ctrTitle"/>
          </p:nvPr>
        </p:nvSpPr>
        <p:spPr>
          <a:xfrm>
            <a:off x="-33810" y="1534325"/>
            <a:ext cx="9211620" cy="98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hu-HU" sz="4000" dirty="0"/>
              <a:t>KÖSZÖNJÜK A FIGYELMET!</a:t>
            </a:r>
            <a:endParaRPr sz="4000" dirty="0"/>
          </a:p>
        </p:txBody>
      </p:sp>
      <p:sp>
        <p:nvSpPr>
          <p:cNvPr id="274" name="Google Shape;274;p49"/>
          <p:cNvSpPr txBox="1">
            <a:spLocks noGrp="1"/>
          </p:cNvSpPr>
          <p:nvPr>
            <p:ph type="subTitle" idx="1"/>
          </p:nvPr>
        </p:nvSpPr>
        <p:spPr>
          <a:xfrm>
            <a:off x="2481900" y="2519525"/>
            <a:ext cx="41802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 err="1"/>
              <a:t>Any</a:t>
            </a:r>
            <a:r>
              <a:rPr lang="hu-HU" dirty="0"/>
              <a:t> </a:t>
            </a:r>
            <a:r>
              <a:rPr lang="hu-HU" dirty="0" err="1"/>
              <a:t>questions</a:t>
            </a:r>
            <a:r>
              <a:rPr lang="hu-HU" dirty="0"/>
              <a:t>?</a:t>
            </a:r>
            <a:endParaRPr dirty="0"/>
          </a:p>
        </p:txBody>
      </p:sp>
      <p:cxnSp>
        <p:nvCxnSpPr>
          <p:cNvPr id="275" name="Google Shape;275;p49"/>
          <p:cNvCxnSpPr/>
          <p:nvPr/>
        </p:nvCxnSpPr>
        <p:spPr>
          <a:xfrm>
            <a:off x="3190500" y="235427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Futuristic Background by Slidesgo">
  <a:themeElements>
    <a:clrScheme name="Simple Light">
      <a:dk1>
        <a:srgbClr val="001633"/>
      </a:dk1>
      <a:lt1>
        <a:srgbClr val="FFFFFF"/>
      </a:lt1>
      <a:dk2>
        <a:srgbClr val="85D5E6"/>
      </a:dk2>
      <a:lt2>
        <a:srgbClr val="FFAB40"/>
      </a:lt2>
      <a:accent1>
        <a:srgbClr val="FFAB40"/>
      </a:accent1>
      <a:accent2>
        <a:srgbClr val="85D5E6"/>
      </a:accent2>
      <a:accent3>
        <a:srgbClr val="78909C"/>
      </a:accent3>
      <a:accent4>
        <a:srgbClr val="FFAB40"/>
      </a:accent4>
      <a:accent5>
        <a:srgbClr val="0097A7"/>
      </a:accent5>
      <a:accent6>
        <a:srgbClr val="001633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246</TotalTime>
  <Words>684</Words>
  <Application>Microsoft Office PowerPoint</Application>
  <PresentationFormat>Diavetítés a képernyőre (16:9 oldalarány)</PresentationFormat>
  <Paragraphs>117</Paragraphs>
  <Slides>14</Slides>
  <Notes>14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14</vt:i4>
      </vt:variant>
    </vt:vector>
  </HeadingPairs>
  <TitlesOfParts>
    <vt:vector size="19" baseType="lpstr">
      <vt:lpstr>Montserrat</vt:lpstr>
      <vt:lpstr>Montserrat ExtraLight</vt:lpstr>
      <vt:lpstr>Montserrat ExtraBold</vt:lpstr>
      <vt:lpstr>Arial</vt:lpstr>
      <vt:lpstr>Futuristic Background by Slidesgo</vt:lpstr>
      <vt:lpstr>Szoftverfejlesztés-és tesztelés</vt:lpstr>
      <vt:lpstr>01</vt:lpstr>
      <vt:lpstr>FEJLESZTÉS</vt:lpstr>
      <vt:lpstr>CÉLUNK</vt:lpstr>
      <vt:lpstr>CÉLUNK</vt:lpstr>
      <vt:lpstr>MINŐSÉGBIZTOSÍTÁS</vt:lpstr>
      <vt:lpstr>TESZTELÉS</vt:lpstr>
      <vt:lpstr>TESZTELÉSI STRATÉGIA</vt:lpstr>
      <vt:lpstr>Statikus tesztelés: A Specifikáció hibái</vt:lpstr>
      <vt:lpstr>Statikus tesztelés: Kritikus tervezési hiányosságok</vt:lpstr>
      <vt:lpstr>Dinamikus tesztelés: Végrehajtás</vt:lpstr>
      <vt:lpstr>Eredmények és Hibajegyek</vt:lpstr>
      <vt:lpstr>Összegzés és Tanulságok</vt:lpstr>
      <vt:lpstr>KÖSZÖNJÜK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Szoftvertesztelés</dc:title>
  <cp:lastModifiedBy>O365 felhasználó</cp:lastModifiedBy>
  <cp:revision>22</cp:revision>
  <dcterms:modified xsi:type="dcterms:W3CDTF">2026-01-11T08:38:29Z</dcterms:modified>
</cp:coreProperties>
</file>