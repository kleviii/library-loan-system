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5"/>
  </p:notesMasterIdLst>
  <p:sldIdLst>
    <p:sldId id="256" r:id="rId2"/>
    <p:sldId id="258" r:id="rId3"/>
    <p:sldId id="261" r:id="rId4"/>
    <p:sldId id="257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280" r:id="rId13"/>
    <p:sldId id="267" r:id="rId14"/>
  </p:sldIdLst>
  <p:sldSz cx="9144000" cy="5143500" type="screen16x9"/>
  <p:notesSz cx="6858000" cy="9144000"/>
  <p:embeddedFontLst>
    <p:embeddedFont>
      <p:font typeface="Montserrat" pitchFamily="2" charset="-18"/>
      <p:regular r:id="rId16"/>
      <p:bold r:id="rId17"/>
      <p:italic r:id="rId18"/>
      <p:boldItalic r:id="rId19"/>
    </p:embeddedFont>
    <p:embeddedFont>
      <p:font typeface="Montserrat ExtraBold" pitchFamily="2" charset="-18"/>
      <p:bold r:id="rId20"/>
      <p:boldItalic r:id="rId21"/>
    </p:embeddedFont>
    <p:embeddedFont>
      <p:font typeface="Montserrat ExtraLight" pitchFamily="2" charset="-18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3790E5-EB3E-47F2-AF84-1620D86740D0}">
  <a:tblStyle styleId="{8D3790E5-EB3E-47F2-AF84-1620D86740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5789" autoAdjust="0"/>
  </p:normalViewPr>
  <p:slideViewPr>
    <p:cSldViewPr snapToGrid="0">
      <p:cViewPr>
        <p:scale>
          <a:sx n="75" d="100"/>
          <a:sy n="75" d="100"/>
        </p:scale>
        <p:origin x="1690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607CD4FC-616C-C550-A9D7-DA9A2F854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AE497220-B95F-94F5-B10E-956B180A9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008FF128-0B2A-7314-BF7D-948AF6743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420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177309E7-60A0-843C-65B7-A62F12323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39410A26-3F43-AF62-C97E-EA99882D6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AEE16991-0160-32AB-3779-304E00A92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1104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1E97813-3A68-C7F5-58FB-047C3184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649806EB-0A12-D1F7-7924-CF9553314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25C7FD28-81C5-945A-76A2-955092D5D5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1832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9BA4C22C-C814-8802-6273-EE7154352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7ADD325E-26A1-90AA-C427-9967D5224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9FACA75D-B30A-B69F-0579-C809493BF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9489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56EFAC68-9C8B-E6DF-B965-825D8CB4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7BCD5EBF-8FD4-013C-09A9-A37C8E90F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B85B09EA-5669-EE24-EDC7-60BD9C7576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558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AF7F295-BBC5-B1C0-B85C-0B1E93CDA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AA52B652-D7D1-AED0-4D29-300812C89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7562E412-E002-2220-688F-8FCA4738C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0658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E8F222F4-E55C-7E01-45C0-81CB8E9E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33B0FE49-3725-6BC8-7705-1CF0F66D98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34828402-F25E-36B1-BD20-D1B74B663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7104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7f9262ee2f_0_26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7f9262ee2f_0_26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f9262ee2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f9262ee2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8" r:id="rId5"/>
    <p:sldLayoutId id="2147483659" r:id="rId6"/>
    <p:sldLayoutId id="2147483660" r:id="rId7"/>
    <p:sldLayoutId id="214748366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1511837" y="1378948"/>
            <a:ext cx="6120323" cy="1215826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cap="all" dirty="0"/>
              <a:t>Szoftverfejlesztés-és tesztelés</a:t>
            </a:r>
            <a:endParaRPr cap="all"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3568403" y="3604532"/>
            <a:ext cx="2007193" cy="10559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Káldor Levente, Lőrincz Márton, Juhász Arnold, Csikós Bendegúz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41650" y="2624375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2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Projekt Bemutató</a:t>
            </a:r>
            <a:endParaRPr sz="22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2096947" y="1571597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4794814" y="2416472"/>
            <a:ext cx="2301649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TESZTELÉS</a:t>
            </a:r>
            <a:endParaRPr dirty="0"/>
          </a:p>
        </p:txBody>
      </p:sp>
      <p:sp>
        <p:nvSpPr>
          <p:cNvPr id="180" name="Google Shape;180;p40"/>
          <p:cNvSpPr txBox="1">
            <a:spLocks noGrp="1"/>
          </p:cNvSpPr>
          <p:nvPr>
            <p:ph type="subTitle" idx="1"/>
          </p:nvPr>
        </p:nvSpPr>
        <p:spPr>
          <a:xfrm>
            <a:off x="4621410" y="2948972"/>
            <a:ext cx="2648455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Az általunk végzett szoftvertesztelés: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Parkolóautomata </a:t>
            </a:r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2096944" y="2416472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FEJLESZTÉS</a:t>
            </a:r>
            <a:endParaRPr dirty="0"/>
          </a:p>
        </p:txBody>
      </p:sp>
      <p:sp>
        <p:nvSpPr>
          <p:cNvPr id="184" name="Google Shape;184;p40"/>
          <p:cNvSpPr txBox="1">
            <a:spLocks noGrp="1"/>
          </p:cNvSpPr>
          <p:nvPr>
            <p:ph type="subTitle" idx="5"/>
          </p:nvPr>
        </p:nvSpPr>
        <p:spPr>
          <a:xfrm>
            <a:off x="1664312" y="2948267"/>
            <a:ext cx="2932263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fejlesztésünk</a:t>
            </a:r>
            <a:r>
              <a:rPr lang="hu-HU" dirty="0"/>
              <a:t> bemutatása: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Könyvtári Rendszer</a:t>
            </a:r>
            <a:endParaRPr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4912139" y="1571597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187" name="Google Shape;187;p40"/>
          <p:cNvCxnSpPr/>
          <p:nvPr/>
        </p:nvCxnSpPr>
        <p:spPr>
          <a:xfrm>
            <a:off x="2931847" y="2347057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5747039" y="2347057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221;p45">
            <a:extLst>
              <a:ext uri="{FF2B5EF4-FFF2-40B4-BE49-F238E27FC236}">
                <a16:creationId xmlns:a16="http://schemas.microsoft.com/office/drawing/2014/main" id="{62CEDA1A-089A-E06D-0613-B11761F21B47}"/>
              </a:ext>
            </a:extLst>
          </p:cNvPr>
          <p:cNvSpPr txBox="1">
            <a:spLocks/>
          </p:cNvSpPr>
          <p:nvPr/>
        </p:nvSpPr>
        <p:spPr>
          <a:xfrm>
            <a:off x="2232772" y="834647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sz="2400" dirty="0">
                <a:solidFill>
                  <a:schemeClr val="accent1"/>
                </a:solidFill>
              </a:rPr>
              <a:t>AGENDA</a:t>
            </a:r>
          </a:p>
        </p:txBody>
      </p:sp>
      <p:cxnSp>
        <p:nvCxnSpPr>
          <p:cNvPr id="9" name="Google Shape;222;p45">
            <a:extLst>
              <a:ext uri="{FF2B5EF4-FFF2-40B4-BE49-F238E27FC236}">
                <a16:creationId xmlns:a16="http://schemas.microsoft.com/office/drawing/2014/main" id="{7506A4A8-1F4D-4ADF-B6DF-3A9C7E92C087}"/>
              </a:ext>
            </a:extLst>
          </p:cNvPr>
          <p:cNvCxnSpPr/>
          <p:nvPr/>
        </p:nvCxnSpPr>
        <p:spPr>
          <a:xfrm>
            <a:off x="3165922" y="142444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3762669" y="3177750"/>
            <a:ext cx="3220615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FEJLESZTÉS</a:t>
            </a: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8" name="Google Shape;208;p4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u-HU" dirty="0"/>
              <a:t>Kis könyvtárak automatizálása, papírmentesítés.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pSp>
        <p:nvGrpSpPr>
          <p:cNvPr id="2" name="Google Shape;2117;p64">
            <a:extLst>
              <a:ext uri="{FF2B5EF4-FFF2-40B4-BE49-F238E27FC236}">
                <a16:creationId xmlns:a16="http://schemas.microsoft.com/office/drawing/2014/main" id="{B898562E-82A7-BDE1-F075-CF96033C0764}"/>
              </a:ext>
            </a:extLst>
          </p:cNvPr>
          <p:cNvGrpSpPr/>
          <p:nvPr/>
        </p:nvGrpSpPr>
        <p:grpSpPr>
          <a:xfrm>
            <a:off x="3123132" y="660400"/>
            <a:ext cx="2897735" cy="2027936"/>
            <a:chOff x="238125" y="1973675"/>
            <a:chExt cx="2558775" cy="1951825"/>
          </a:xfrm>
        </p:grpSpPr>
        <p:sp>
          <p:nvSpPr>
            <p:cNvPr id="3" name="Google Shape;2118;p64">
              <a:extLst>
                <a:ext uri="{FF2B5EF4-FFF2-40B4-BE49-F238E27FC236}">
                  <a16:creationId xmlns:a16="http://schemas.microsoft.com/office/drawing/2014/main" id="{2D3A211D-F30F-3048-88DB-E6F289398BD7}"/>
                </a:ext>
              </a:extLst>
            </p:cNvPr>
            <p:cNvSpPr/>
            <p:nvPr/>
          </p:nvSpPr>
          <p:spPr>
            <a:xfrm>
              <a:off x="325550" y="2055000"/>
              <a:ext cx="2386075" cy="1459975"/>
            </a:xfrm>
            <a:custGeom>
              <a:avLst/>
              <a:gdLst/>
              <a:ahLst/>
              <a:cxnLst/>
              <a:rect l="l" t="t" r="r" b="b"/>
              <a:pathLst>
                <a:path w="95443" h="58399" extrusionOk="0">
                  <a:moveTo>
                    <a:pt x="94925" y="516"/>
                  </a:moveTo>
                  <a:lnTo>
                    <a:pt x="94925" y="57881"/>
                  </a:lnTo>
                  <a:lnTo>
                    <a:pt x="518" y="57881"/>
                  </a:lnTo>
                  <a:lnTo>
                    <a:pt x="518" y="516"/>
                  </a:lnTo>
                  <a:close/>
                  <a:moveTo>
                    <a:pt x="260" y="0"/>
                  </a:moveTo>
                  <a:cubicBezTo>
                    <a:pt x="118" y="0"/>
                    <a:pt x="1" y="115"/>
                    <a:pt x="1" y="259"/>
                  </a:cubicBezTo>
                  <a:lnTo>
                    <a:pt x="1" y="58140"/>
                  </a:lnTo>
                  <a:cubicBezTo>
                    <a:pt x="1" y="58282"/>
                    <a:pt x="118" y="58399"/>
                    <a:pt x="260" y="58399"/>
                  </a:cubicBezTo>
                  <a:lnTo>
                    <a:pt x="95184" y="58399"/>
                  </a:lnTo>
                  <a:cubicBezTo>
                    <a:pt x="95326" y="58399"/>
                    <a:pt x="95441" y="58282"/>
                    <a:pt x="95441" y="58140"/>
                  </a:cubicBezTo>
                  <a:lnTo>
                    <a:pt x="95441" y="259"/>
                  </a:lnTo>
                  <a:cubicBezTo>
                    <a:pt x="95442" y="115"/>
                    <a:pt x="95326" y="0"/>
                    <a:pt x="95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119;p64">
              <a:extLst>
                <a:ext uri="{FF2B5EF4-FFF2-40B4-BE49-F238E27FC236}">
                  <a16:creationId xmlns:a16="http://schemas.microsoft.com/office/drawing/2014/main" id="{CCE30D40-603D-D075-A719-7B139076660D}"/>
                </a:ext>
              </a:extLst>
            </p:cNvPr>
            <p:cNvSpPr/>
            <p:nvPr/>
          </p:nvSpPr>
          <p:spPr>
            <a:xfrm>
              <a:off x="1075325" y="3589700"/>
              <a:ext cx="884075" cy="335800"/>
            </a:xfrm>
            <a:custGeom>
              <a:avLst/>
              <a:gdLst/>
              <a:ahLst/>
              <a:cxnLst/>
              <a:rect l="l" t="t" r="r" b="b"/>
              <a:pathLst>
                <a:path w="35363" h="13432" extrusionOk="0">
                  <a:moveTo>
                    <a:pt x="28176" y="0"/>
                  </a:moveTo>
                  <a:cubicBezTo>
                    <a:pt x="28078" y="0"/>
                    <a:pt x="27996" y="34"/>
                    <a:pt x="27932" y="102"/>
                  </a:cubicBezTo>
                  <a:cubicBezTo>
                    <a:pt x="27790" y="253"/>
                    <a:pt x="27790" y="509"/>
                    <a:pt x="27932" y="1118"/>
                  </a:cubicBezTo>
                  <a:cubicBezTo>
                    <a:pt x="27985" y="1344"/>
                    <a:pt x="28047" y="1651"/>
                    <a:pt x="28119" y="2009"/>
                  </a:cubicBezTo>
                  <a:cubicBezTo>
                    <a:pt x="28420" y="3516"/>
                    <a:pt x="28876" y="5791"/>
                    <a:pt x="29651" y="7179"/>
                  </a:cubicBezTo>
                  <a:cubicBezTo>
                    <a:pt x="30394" y="8514"/>
                    <a:pt x="31835" y="9775"/>
                    <a:pt x="32886" y="10698"/>
                  </a:cubicBezTo>
                  <a:cubicBezTo>
                    <a:pt x="33194" y="10968"/>
                    <a:pt x="33463" y="11203"/>
                    <a:pt x="33660" y="11396"/>
                  </a:cubicBezTo>
                  <a:cubicBezTo>
                    <a:pt x="34197" y="11917"/>
                    <a:pt x="34530" y="12027"/>
                    <a:pt x="34711" y="12085"/>
                  </a:cubicBezTo>
                  <a:cubicBezTo>
                    <a:pt x="34724" y="12089"/>
                    <a:pt x="34738" y="12094"/>
                    <a:pt x="34750" y="12098"/>
                  </a:cubicBezTo>
                  <a:cubicBezTo>
                    <a:pt x="34781" y="12255"/>
                    <a:pt x="34798" y="12433"/>
                    <a:pt x="34708" y="12569"/>
                  </a:cubicBezTo>
                  <a:cubicBezTo>
                    <a:pt x="34621" y="12698"/>
                    <a:pt x="34443" y="12789"/>
                    <a:pt x="34176" y="12841"/>
                  </a:cubicBezTo>
                  <a:cubicBezTo>
                    <a:pt x="33894" y="12897"/>
                    <a:pt x="33576" y="12915"/>
                    <a:pt x="33188" y="12915"/>
                  </a:cubicBezTo>
                  <a:cubicBezTo>
                    <a:pt x="32866" y="12915"/>
                    <a:pt x="32496" y="12902"/>
                    <a:pt x="32057" y="12888"/>
                  </a:cubicBezTo>
                  <a:cubicBezTo>
                    <a:pt x="31412" y="12865"/>
                    <a:pt x="30607" y="12837"/>
                    <a:pt x="29586" y="12837"/>
                  </a:cubicBezTo>
                  <a:lnTo>
                    <a:pt x="8800" y="12837"/>
                  </a:lnTo>
                  <a:cubicBezTo>
                    <a:pt x="7800" y="12837"/>
                    <a:pt x="6833" y="12841"/>
                    <a:pt x="5939" y="12847"/>
                  </a:cubicBezTo>
                  <a:cubicBezTo>
                    <a:pt x="5199" y="12851"/>
                    <a:pt x="4507" y="12855"/>
                    <a:pt x="3887" y="12855"/>
                  </a:cubicBezTo>
                  <a:cubicBezTo>
                    <a:pt x="3179" y="12855"/>
                    <a:pt x="2567" y="12850"/>
                    <a:pt x="2090" y="12837"/>
                  </a:cubicBezTo>
                  <a:lnTo>
                    <a:pt x="1783" y="12828"/>
                  </a:lnTo>
                  <a:cubicBezTo>
                    <a:pt x="706" y="12798"/>
                    <a:pt x="700" y="12793"/>
                    <a:pt x="570" y="12668"/>
                  </a:cubicBezTo>
                  <a:cubicBezTo>
                    <a:pt x="526" y="12627"/>
                    <a:pt x="520" y="12598"/>
                    <a:pt x="520" y="12571"/>
                  </a:cubicBezTo>
                  <a:cubicBezTo>
                    <a:pt x="520" y="12511"/>
                    <a:pt x="556" y="12333"/>
                    <a:pt x="912" y="11971"/>
                  </a:cubicBezTo>
                  <a:cubicBezTo>
                    <a:pt x="1108" y="11772"/>
                    <a:pt x="1452" y="11550"/>
                    <a:pt x="1848" y="11293"/>
                  </a:cubicBezTo>
                  <a:cubicBezTo>
                    <a:pt x="2410" y="10928"/>
                    <a:pt x="3111" y="10473"/>
                    <a:pt x="3670" y="9890"/>
                  </a:cubicBezTo>
                  <a:lnTo>
                    <a:pt x="4006" y="9544"/>
                  </a:lnTo>
                  <a:cubicBezTo>
                    <a:pt x="4870" y="8657"/>
                    <a:pt x="5947" y="7555"/>
                    <a:pt x="6528" y="6084"/>
                  </a:cubicBezTo>
                  <a:cubicBezTo>
                    <a:pt x="7009" y="4866"/>
                    <a:pt x="7250" y="2705"/>
                    <a:pt x="7410" y="1274"/>
                  </a:cubicBezTo>
                  <a:cubicBezTo>
                    <a:pt x="7465" y="775"/>
                    <a:pt x="7515" y="343"/>
                    <a:pt x="7558" y="87"/>
                  </a:cubicBezTo>
                  <a:lnTo>
                    <a:pt x="7048" y="0"/>
                  </a:lnTo>
                  <a:cubicBezTo>
                    <a:pt x="7002" y="269"/>
                    <a:pt x="6956" y="688"/>
                    <a:pt x="6896" y="1217"/>
                  </a:cubicBezTo>
                  <a:cubicBezTo>
                    <a:pt x="6739" y="2621"/>
                    <a:pt x="6503" y="4741"/>
                    <a:pt x="6047" y="5895"/>
                  </a:cubicBezTo>
                  <a:cubicBezTo>
                    <a:pt x="5506" y="7268"/>
                    <a:pt x="4512" y="8286"/>
                    <a:pt x="3637" y="9183"/>
                  </a:cubicBezTo>
                  <a:lnTo>
                    <a:pt x="3298" y="9533"/>
                  </a:lnTo>
                  <a:cubicBezTo>
                    <a:pt x="2779" y="10073"/>
                    <a:pt x="2136" y="10490"/>
                    <a:pt x="1568" y="10859"/>
                  </a:cubicBezTo>
                  <a:cubicBezTo>
                    <a:pt x="1145" y="11133"/>
                    <a:pt x="780" y="11369"/>
                    <a:pt x="546" y="11608"/>
                  </a:cubicBezTo>
                  <a:cubicBezTo>
                    <a:pt x="172" y="11988"/>
                    <a:pt x="0" y="12296"/>
                    <a:pt x="5" y="12578"/>
                  </a:cubicBezTo>
                  <a:cubicBezTo>
                    <a:pt x="6" y="12752"/>
                    <a:pt x="78" y="12911"/>
                    <a:pt x="211" y="13040"/>
                  </a:cubicBezTo>
                  <a:cubicBezTo>
                    <a:pt x="492" y="13309"/>
                    <a:pt x="611" y="13312"/>
                    <a:pt x="1770" y="13345"/>
                  </a:cubicBezTo>
                  <a:lnTo>
                    <a:pt x="2075" y="13354"/>
                  </a:lnTo>
                  <a:cubicBezTo>
                    <a:pt x="2547" y="13367"/>
                    <a:pt x="3149" y="13372"/>
                    <a:pt x="3843" y="13372"/>
                  </a:cubicBezTo>
                  <a:cubicBezTo>
                    <a:pt x="4476" y="13372"/>
                    <a:pt x="5185" y="13368"/>
                    <a:pt x="5944" y="13364"/>
                  </a:cubicBezTo>
                  <a:cubicBezTo>
                    <a:pt x="6836" y="13358"/>
                    <a:pt x="7802" y="13354"/>
                    <a:pt x="8802" y="13354"/>
                  </a:cubicBezTo>
                  <a:lnTo>
                    <a:pt x="29586" y="13354"/>
                  </a:lnTo>
                  <a:cubicBezTo>
                    <a:pt x="30598" y="13354"/>
                    <a:pt x="31397" y="13381"/>
                    <a:pt x="32040" y="13403"/>
                  </a:cubicBezTo>
                  <a:cubicBezTo>
                    <a:pt x="32484" y="13420"/>
                    <a:pt x="32860" y="13432"/>
                    <a:pt x="33192" y="13432"/>
                  </a:cubicBezTo>
                  <a:cubicBezTo>
                    <a:pt x="33609" y="13432"/>
                    <a:pt x="33956" y="13412"/>
                    <a:pt x="34274" y="13348"/>
                  </a:cubicBezTo>
                  <a:cubicBezTo>
                    <a:pt x="34682" y="13269"/>
                    <a:pt x="34972" y="13103"/>
                    <a:pt x="35137" y="12856"/>
                  </a:cubicBezTo>
                  <a:cubicBezTo>
                    <a:pt x="35363" y="12517"/>
                    <a:pt x="35282" y="12127"/>
                    <a:pt x="35252" y="11980"/>
                  </a:cubicBezTo>
                  <a:cubicBezTo>
                    <a:pt x="35195" y="11701"/>
                    <a:pt x="35007" y="11639"/>
                    <a:pt x="34871" y="11593"/>
                  </a:cubicBezTo>
                  <a:cubicBezTo>
                    <a:pt x="34721" y="11545"/>
                    <a:pt x="34470" y="11463"/>
                    <a:pt x="34019" y="11025"/>
                  </a:cubicBezTo>
                  <a:cubicBezTo>
                    <a:pt x="33815" y="10828"/>
                    <a:pt x="33540" y="10585"/>
                    <a:pt x="33225" y="10309"/>
                  </a:cubicBezTo>
                  <a:cubicBezTo>
                    <a:pt x="32202" y="9412"/>
                    <a:pt x="30800" y="8183"/>
                    <a:pt x="30101" y="6928"/>
                  </a:cubicBezTo>
                  <a:cubicBezTo>
                    <a:pt x="29367" y="5611"/>
                    <a:pt x="28902" y="3294"/>
                    <a:pt x="28625" y="1909"/>
                  </a:cubicBezTo>
                  <a:cubicBezTo>
                    <a:pt x="28552" y="1542"/>
                    <a:pt x="28489" y="1231"/>
                    <a:pt x="28435" y="1000"/>
                  </a:cubicBezTo>
                  <a:cubicBezTo>
                    <a:pt x="28376" y="749"/>
                    <a:pt x="28353" y="598"/>
                    <a:pt x="28346" y="510"/>
                  </a:cubicBezTo>
                  <a:cubicBezTo>
                    <a:pt x="28373" y="500"/>
                    <a:pt x="28400" y="486"/>
                    <a:pt x="28422" y="468"/>
                  </a:cubicBezTo>
                  <a:lnTo>
                    <a:pt x="28537" y="268"/>
                  </a:lnTo>
                  <a:lnTo>
                    <a:pt x="28247" y="234"/>
                  </a:lnTo>
                  <a:lnTo>
                    <a:pt x="28111" y="56"/>
                  </a:lnTo>
                  <a:cubicBezTo>
                    <a:pt x="28153" y="24"/>
                    <a:pt x="28202" y="8"/>
                    <a:pt x="28254" y="8"/>
                  </a:cubicBezTo>
                  <a:cubicBezTo>
                    <a:pt x="28256" y="8"/>
                    <a:pt x="28258" y="8"/>
                    <a:pt x="28261" y="8"/>
                  </a:cubicBezTo>
                  <a:cubicBezTo>
                    <a:pt x="28231" y="3"/>
                    <a:pt x="28203" y="0"/>
                    <a:pt x="281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120;p64">
              <a:extLst>
                <a:ext uri="{FF2B5EF4-FFF2-40B4-BE49-F238E27FC236}">
                  <a16:creationId xmlns:a16="http://schemas.microsoft.com/office/drawing/2014/main" id="{D49DBF82-2423-22FD-5C49-15A21846938D}"/>
                </a:ext>
              </a:extLst>
            </p:cNvPr>
            <p:cNvSpPr/>
            <p:nvPr/>
          </p:nvSpPr>
          <p:spPr>
            <a:xfrm>
              <a:off x="238125" y="1973675"/>
              <a:ext cx="2558775" cy="1623600"/>
            </a:xfrm>
            <a:custGeom>
              <a:avLst/>
              <a:gdLst/>
              <a:ahLst/>
              <a:cxnLst/>
              <a:rect l="l" t="t" r="r" b="b"/>
              <a:pathLst>
                <a:path w="102351" h="64944" extrusionOk="0">
                  <a:moveTo>
                    <a:pt x="99608" y="516"/>
                  </a:moveTo>
                  <a:cubicBezTo>
                    <a:pt x="100838" y="516"/>
                    <a:pt x="101835" y="1513"/>
                    <a:pt x="101835" y="2744"/>
                  </a:cubicBezTo>
                  <a:lnTo>
                    <a:pt x="101835" y="62200"/>
                  </a:lnTo>
                  <a:cubicBezTo>
                    <a:pt x="101833" y="63429"/>
                    <a:pt x="100836" y="64425"/>
                    <a:pt x="99608" y="64426"/>
                  </a:cubicBezTo>
                  <a:lnTo>
                    <a:pt x="2743" y="64426"/>
                  </a:lnTo>
                  <a:cubicBezTo>
                    <a:pt x="1514" y="64425"/>
                    <a:pt x="519" y="63429"/>
                    <a:pt x="517" y="62200"/>
                  </a:cubicBezTo>
                  <a:lnTo>
                    <a:pt x="517" y="2744"/>
                  </a:lnTo>
                  <a:cubicBezTo>
                    <a:pt x="519" y="1515"/>
                    <a:pt x="1514" y="518"/>
                    <a:pt x="2743" y="516"/>
                  </a:cubicBezTo>
                  <a:close/>
                  <a:moveTo>
                    <a:pt x="2743" y="1"/>
                  </a:moveTo>
                  <a:cubicBezTo>
                    <a:pt x="1230" y="1"/>
                    <a:pt x="0" y="1229"/>
                    <a:pt x="0" y="2744"/>
                  </a:cubicBezTo>
                  <a:lnTo>
                    <a:pt x="0" y="62200"/>
                  </a:lnTo>
                  <a:cubicBezTo>
                    <a:pt x="0" y="63713"/>
                    <a:pt x="1230" y="64943"/>
                    <a:pt x="2743" y="64943"/>
                  </a:cubicBezTo>
                  <a:lnTo>
                    <a:pt x="99608" y="64943"/>
                  </a:lnTo>
                  <a:cubicBezTo>
                    <a:pt x="101120" y="64943"/>
                    <a:pt x="102351" y="63713"/>
                    <a:pt x="102351" y="62200"/>
                  </a:cubicBezTo>
                  <a:lnTo>
                    <a:pt x="102351" y="2744"/>
                  </a:lnTo>
                  <a:cubicBezTo>
                    <a:pt x="102351" y="1228"/>
                    <a:pt x="101123" y="1"/>
                    <a:pt x="99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121;p64">
              <a:extLst>
                <a:ext uri="{FF2B5EF4-FFF2-40B4-BE49-F238E27FC236}">
                  <a16:creationId xmlns:a16="http://schemas.microsoft.com/office/drawing/2014/main" id="{25F4DE02-EF3A-8CAC-5D1F-082B20CAD7B9}"/>
                </a:ext>
              </a:extLst>
            </p:cNvPr>
            <p:cNvSpPr/>
            <p:nvPr/>
          </p:nvSpPr>
          <p:spPr>
            <a:xfrm>
              <a:off x="255425" y="1991200"/>
              <a:ext cx="2524175" cy="1588500"/>
            </a:xfrm>
            <a:custGeom>
              <a:avLst/>
              <a:gdLst/>
              <a:ahLst/>
              <a:cxnLst/>
              <a:rect l="l" t="t" r="r" b="b"/>
              <a:pathLst>
                <a:path w="100967" h="63540" extrusionOk="0">
                  <a:moveTo>
                    <a:pt x="98640" y="518"/>
                  </a:moveTo>
                  <a:cubicBezTo>
                    <a:pt x="99639" y="518"/>
                    <a:pt x="100449" y="1328"/>
                    <a:pt x="100449" y="2328"/>
                  </a:cubicBezTo>
                  <a:lnTo>
                    <a:pt x="100449" y="61214"/>
                  </a:lnTo>
                  <a:cubicBezTo>
                    <a:pt x="100448" y="62212"/>
                    <a:pt x="99639" y="63022"/>
                    <a:pt x="98640" y="63024"/>
                  </a:cubicBezTo>
                  <a:lnTo>
                    <a:pt x="2328" y="63024"/>
                  </a:lnTo>
                  <a:cubicBezTo>
                    <a:pt x="1328" y="63022"/>
                    <a:pt x="519" y="62212"/>
                    <a:pt x="517" y="61214"/>
                  </a:cubicBezTo>
                  <a:lnTo>
                    <a:pt x="517" y="2328"/>
                  </a:lnTo>
                  <a:cubicBezTo>
                    <a:pt x="519" y="1328"/>
                    <a:pt x="1328" y="519"/>
                    <a:pt x="2328" y="518"/>
                  </a:cubicBezTo>
                  <a:close/>
                  <a:moveTo>
                    <a:pt x="2328" y="1"/>
                  </a:moveTo>
                  <a:cubicBezTo>
                    <a:pt x="1042" y="2"/>
                    <a:pt x="2" y="1043"/>
                    <a:pt x="0" y="2328"/>
                  </a:cubicBezTo>
                  <a:lnTo>
                    <a:pt x="0" y="61214"/>
                  </a:lnTo>
                  <a:cubicBezTo>
                    <a:pt x="2" y="62498"/>
                    <a:pt x="1042" y="63538"/>
                    <a:pt x="2328" y="63540"/>
                  </a:cubicBezTo>
                  <a:lnTo>
                    <a:pt x="98640" y="63540"/>
                  </a:lnTo>
                  <a:cubicBezTo>
                    <a:pt x="99925" y="63538"/>
                    <a:pt x="100965" y="62498"/>
                    <a:pt x="100967" y="61214"/>
                  </a:cubicBezTo>
                  <a:lnTo>
                    <a:pt x="100967" y="2328"/>
                  </a:lnTo>
                  <a:cubicBezTo>
                    <a:pt x="100967" y="1043"/>
                    <a:pt x="99925" y="1"/>
                    <a:pt x="986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22;p64">
              <a:extLst>
                <a:ext uri="{FF2B5EF4-FFF2-40B4-BE49-F238E27FC236}">
                  <a16:creationId xmlns:a16="http://schemas.microsoft.com/office/drawing/2014/main" id="{19E534EF-2ACE-5591-AC2D-937C79950783}"/>
                </a:ext>
              </a:extLst>
            </p:cNvPr>
            <p:cNvSpPr/>
            <p:nvPr/>
          </p:nvSpPr>
          <p:spPr>
            <a:xfrm>
              <a:off x="1091150" y="3888075"/>
              <a:ext cx="856825" cy="25"/>
            </a:xfrm>
            <a:custGeom>
              <a:avLst/>
              <a:gdLst/>
              <a:ahLst/>
              <a:cxnLst/>
              <a:rect l="l" t="t" r="r" b="b"/>
              <a:pathLst>
                <a:path w="34273" h="1" extrusionOk="0">
                  <a:moveTo>
                    <a:pt x="1" y="0"/>
                  </a:moveTo>
                  <a:lnTo>
                    <a:pt x="342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23;p64">
              <a:extLst>
                <a:ext uri="{FF2B5EF4-FFF2-40B4-BE49-F238E27FC236}">
                  <a16:creationId xmlns:a16="http://schemas.microsoft.com/office/drawing/2014/main" id="{A0F914BB-644F-4967-C9F6-12FB65CC2C9F}"/>
                </a:ext>
              </a:extLst>
            </p:cNvPr>
            <p:cNvSpPr/>
            <p:nvPr/>
          </p:nvSpPr>
          <p:spPr>
            <a:xfrm>
              <a:off x="1091125" y="3881600"/>
              <a:ext cx="856850" cy="12925"/>
            </a:xfrm>
            <a:custGeom>
              <a:avLst/>
              <a:gdLst/>
              <a:ahLst/>
              <a:cxnLst/>
              <a:rect l="l" t="t" r="r" b="b"/>
              <a:pathLst>
                <a:path w="34274" h="517" extrusionOk="0">
                  <a:moveTo>
                    <a:pt x="0" y="1"/>
                  </a:moveTo>
                  <a:lnTo>
                    <a:pt x="0" y="516"/>
                  </a:lnTo>
                  <a:lnTo>
                    <a:pt x="34273" y="516"/>
                  </a:lnTo>
                  <a:lnTo>
                    <a:pt x="342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Kép 10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3832429-A2D5-3742-7EAB-C3C19F192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283" y="758466"/>
            <a:ext cx="2663677" cy="14767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CÉLUNK</a:t>
            </a:r>
            <a:endParaRPr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591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hu-HU" sz="1200" dirty="0"/>
              <a:t>A kapott feladatunk tételmondata: </a:t>
            </a:r>
            <a:r>
              <a:rPr lang="hu-HU" sz="1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„Szimuláljon egy könyvtári rendszert!”</a:t>
            </a:r>
            <a:endParaRPr sz="1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spcAft>
                <a:spcPts val="1600"/>
              </a:spcAft>
              <a:buNone/>
            </a:pPr>
            <a:r>
              <a:rPr lang="hu-HU" sz="1200" dirty="0"/>
              <a:t>Eszközölt technológiák: </a:t>
            </a:r>
            <a:r>
              <a:rPr lang="hu-HU" sz="1200" b="1" dirty="0"/>
              <a:t>Java</a:t>
            </a:r>
            <a:r>
              <a:rPr lang="hu-HU" sz="1200" dirty="0"/>
              <a:t> (JDK 21+), </a:t>
            </a:r>
            <a:r>
              <a:rPr lang="hu-HU" sz="1200" b="1" dirty="0"/>
              <a:t>Konzolos felület </a:t>
            </a:r>
            <a:r>
              <a:rPr lang="hu-HU" sz="1200" dirty="0"/>
              <a:t>(CLI), Fájl </a:t>
            </a:r>
            <a:r>
              <a:rPr lang="hu-HU" sz="1200" b="1" dirty="0"/>
              <a:t>CRUD</a:t>
            </a:r>
            <a:r>
              <a:rPr lang="hu-HU" sz="1200" dirty="0"/>
              <a:t> műveletek, MI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hu-HU" sz="1200" dirty="0"/>
              <a:t>Fejlesztési modell: </a:t>
            </a:r>
            <a:r>
              <a:rPr lang="hu-HU" sz="1200" b="1" dirty="0"/>
              <a:t>Evolúciós fejlesztés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hu-HU" sz="1200" b="1" dirty="0"/>
              <a:t>Fő funkciók:</a:t>
            </a:r>
            <a:endParaRPr lang="hu-HU" sz="1200" dirty="0"/>
          </a:p>
          <a:p>
            <a:r>
              <a:rPr lang="hu-HU" sz="1200" dirty="0"/>
              <a:t>Tagok és könyvek nyilvántartása.</a:t>
            </a:r>
          </a:p>
          <a:p>
            <a:r>
              <a:rPr lang="hu-HU" sz="1200" dirty="0"/>
              <a:t>Könyv kölcsönzés (</a:t>
            </a:r>
            <a:r>
              <a:rPr lang="hu-HU" sz="1200" dirty="0" err="1"/>
              <a:t>max</a:t>
            </a:r>
            <a:r>
              <a:rPr lang="hu-HU" sz="1200" dirty="0"/>
              <a:t> 3 db) és visszavétel.</a:t>
            </a:r>
          </a:p>
          <a:p>
            <a:r>
              <a:rPr lang="hu-HU" sz="1200" dirty="0"/>
              <a:t>Automatikus késedelmi díj számítás (50 Ft/nap).</a:t>
            </a:r>
          </a:p>
          <a:p>
            <a:r>
              <a:rPr lang="hu-HU" sz="1200" dirty="0"/>
              <a:t>Automatikus statisztika készítés</a:t>
            </a:r>
          </a:p>
          <a:p>
            <a:r>
              <a:rPr lang="hu-HU" sz="1200" dirty="0"/>
              <a:t>Navigálható menürendszer</a:t>
            </a:r>
          </a:p>
          <a:p>
            <a:pPr marL="155575" indent="0">
              <a:buNone/>
            </a:pPr>
            <a:endParaRPr lang="hu-HU" sz="1200" dirty="0"/>
          </a:p>
          <a:p>
            <a:pPr marL="155575" indent="0">
              <a:buNone/>
            </a:pPr>
            <a:r>
              <a:rPr lang="hu-HU" sz="1200" b="1" dirty="0"/>
              <a:t>MI használat:</a:t>
            </a:r>
          </a:p>
          <a:p>
            <a:pPr marL="155575" indent="0">
              <a:buNone/>
            </a:pPr>
            <a:r>
              <a:rPr lang="hu-HU" sz="1200" dirty="0"/>
              <a:t>	Törekedtünk az okos és ésszerű használatára</a:t>
            </a:r>
          </a:p>
          <a:p>
            <a:pPr marL="155575" indent="0">
              <a:buNone/>
            </a:pPr>
            <a:r>
              <a:rPr lang="hu-HU" sz="1200" dirty="0"/>
              <a:t>	Gondosan kidolgozott </a:t>
            </a:r>
            <a:r>
              <a:rPr lang="hu-HU" sz="1200" dirty="0" err="1"/>
              <a:t>promptokkal</a:t>
            </a:r>
            <a:r>
              <a:rPr lang="hu-HU" sz="1200" dirty="0"/>
              <a:t> dolgoztunk</a:t>
            </a:r>
          </a:p>
          <a:p>
            <a:pPr marL="0" lvl="0" indent="0">
              <a:spcAft>
                <a:spcPts val="1600"/>
              </a:spcAft>
              <a:buNone/>
            </a:pPr>
            <a:endParaRPr lang="hu-HU" sz="1200" dirty="0"/>
          </a:p>
          <a:p>
            <a:pPr marL="0" lvl="0" indent="0">
              <a:spcAft>
                <a:spcPts val="1600"/>
              </a:spcAft>
              <a:buNone/>
            </a:pPr>
            <a:endParaRPr sz="1200" dirty="0"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76952F37-EDB8-5D52-A580-5AD4E7347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350" y="4041072"/>
            <a:ext cx="464973" cy="464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>
            <a:extLst>
              <a:ext uri="{FF2B5EF4-FFF2-40B4-BE49-F238E27FC236}">
                <a16:creationId xmlns:a16="http://schemas.microsoft.com/office/drawing/2014/main" id="{40F4D9EE-5D8F-DFFD-967B-CAFC83492C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302E645-4D73-558C-BD6C-A28A5F4CF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682" y="4041072"/>
            <a:ext cx="464973" cy="464973"/>
          </a:xfrm>
          <a:prstGeom prst="rect">
            <a:avLst/>
          </a:prstGeom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4CCC43EF-6180-E3A7-58E9-76E0B4F52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014" y="4041073"/>
            <a:ext cx="464973" cy="46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34D450B8-5503-6CE8-132A-63915C675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037" y="2287122"/>
            <a:ext cx="754626" cy="75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Kép 7" descr="A képen szöveg, képernyőkép, Betűtípus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C629FB6-B058-575B-B663-15510A22A7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0406" y="2039640"/>
            <a:ext cx="1635094" cy="17174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E441DD49-30FC-4B0C-A315-9C9F49DC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A41365BF-E04F-3610-14AB-A72436265D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MINŐSÉGBIZTOSÍTÁS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26B0104D-5BB7-DF35-99C7-75C847F5CA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5609784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hu-HU" sz="1200" b="1" dirty="0"/>
              <a:t>Fejlesztői tesztek:</a:t>
            </a:r>
            <a:r>
              <a:rPr lang="hu-HU" sz="1200" dirty="0"/>
              <a:t> Csupán a szoftver </a:t>
            </a:r>
            <a:r>
              <a:rPr lang="hu-HU" sz="1200" dirty="0" err="1"/>
              <a:t>rendkívűl</a:t>
            </a:r>
            <a:r>
              <a:rPr lang="hu-HU" sz="1200" dirty="0"/>
              <a:t> felületes tesztelését végeztük.</a:t>
            </a:r>
          </a:p>
          <a:p>
            <a:pPr marL="0" lvl="0" indent="0">
              <a:buNone/>
            </a:pPr>
            <a:endParaRPr lang="hu-HU" sz="1200" dirty="0"/>
          </a:p>
          <a:p>
            <a:pPr marL="0" lvl="0" indent="0">
              <a:buNone/>
            </a:pPr>
            <a:r>
              <a:rPr lang="hu-HU" sz="1200" b="1" dirty="0"/>
              <a:t>Tesztelő csapatunk</a:t>
            </a:r>
            <a:r>
              <a:rPr lang="hu-HU" sz="1200" dirty="0"/>
              <a:t>: 3. Csapat, </a:t>
            </a:r>
            <a:r>
              <a:rPr lang="hu-HU" sz="1200" b="1" dirty="0"/>
              <a:t>tesztvezető</a:t>
            </a:r>
            <a:r>
              <a:rPr lang="hu-HU" sz="1200" dirty="0"/>
              <a:t>: Bauer Bálint</a:t>
            </a:r>
          </a:p>
          <a:p>
            <a:pPr marL="0" lvl="0" indent="0">
              <a:buNone/>
            </a:pPr>
            <a:endParaRPr lang="hu-HU" sz="1200" dirty="0"/>
          </a:p>
          <a:p>
            <a:pPr marL="0" lvl="0" indent="0">
              <a:buNone/>
            </a:pPr>
            <a:r>
              <a:rPr lang="hu-HU" sz="1200" b="1" dirty="0"/>
              <a:t>Független tesztelés eredménye (Jegyzőkönyv v0.4):</a:t>
            </a:r>
          </a:p>
          <a:p>
            <a:pPr marL="0" lvl="0" indent="0">
              <a:buNone/>
            </a:pPr>
            <a:endParaRPr sz="1200" dirty="0"/>
          </a:p>
          <a:p>
            <a:pPr marL="171450" indent="-171450">
              <a:spcAft>
                <a:spcPts val="1600"/>
              </a:spcAft>
            </a:pPr>
            <a:r>
              <a:rPr lang="hu-HU" sz="1200" dirty="0"/>
              <a:t>Eredmény: 100%-os megfelelés.</a:t>
            </a:r>
          </a:p>
          <a:p>
            <a:pPr marL="171450" indent="-171450">
              <a:spcAft>
                <a:spcPts val="1600"/>
              </a:spcAft>
            </a:pPr>
            <a:r>
              <a:rPr lang="hu-HU" sz="1200" dirty="0"/>
              <a:t>Javítások: A gyors és rendszeres iterációknak köszönhetően a szoftver minden ismert hibáját kijavítottuk. Ez a v1.3-ban </a:t>
            </a:r>
            <a:r>
              <a:rPr lang="hu-HU" sz="1200" dirty="0" err="1"/>
              <a:t>kuliminálódott</a:t>
            </a:r>
            <a:r>
              <a:rPr lang="hu-HU" sz="1200" dirty="0"/>
              <a:t>.</a:t>
            </a:r>
            <a:endParaRPr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1F79C905-D6DE-718D-420C-5C2EC1553F8D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8" name="Kép 7" descr="A képen szöveg, képernyőkép, Betűtípus, algebr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2209337-3DB9-F147-DE2D-72FF791C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006" y="1644232"/>
            <a:ext cx="3054652" cy="1249630"/>
          </a:xfrm>
          <a:prstGeom prst="rect">
            <a:avLst/>
          </a:prstGeom>
        </p:spPr>
      </p:pic>
      <p:pic>
        <p:nvPicPr>
          <p:cNvPr id="10" name="Kép 9" descr="A képen szöveg, képernyőkép, Betűtípus, algebr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CED7EE1-E0AE-86C8-0801-A65C5E6A6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306" y="3027316"/>
            <a:ext cx="2296352" cy="1740317"/>
          </a:xfrm>
          <a:prstGeom prst="rect">
            <a:avLst/>
          </a:prstGeom>
        </p:spPr>
      </p:pic>
      <p:grpSp>
        <p:nvGrpSpPr>
          <p:cNvPr id="11" name="Google Shape;2297;p73">
            <a:extLst>
              <a:ext uri="{FF2B5EF4-FFF2-40B4-BE49-F238E27FC236}">
                <a16:creationId xmlns:a16="http://schemas.microsoft.com/office/drawing/2014/main" id="{BDE4A64C-2862-B4FE-39B7-EA4EDC950CD8}"/>
              </a:ext>
            </a:extLst>
          </p:cNvPr>
          <p:cNvGrpSpPr/>
          <p:nvPr/>
        </p:nvGrpSpPr>
        <p:grpSpPr>
          <a:xfrm>
            <a:off x="938500" y="4484611"/>
            <a:ext cx="5349890" cy="244867"/>
            <a:chOff x="6336019" y="3733725"/>
            <a:chExt cx="2566206" cy="351310"/>
          </a:xfrm>
        </p:grpSpPr>
        <p:sp>
          <p:nvSpPr>
            <p:cNvPr id="12" name="Google Shape;2298;p73">
              <a:extLst>
                <a:ext uri="{FF2B5EF4-FFF2-40B4-BE49-F238E27FC236}">
                  <a16:creationId xmlns:a16="http://schemas.microsoft.com/office/drawing/2014/main" id="{670467C6-0040-00D2-FBA8-96BEA27C3DDD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299;p73">
              <a:extLst>
                <a:ext uri="{FF2B5EF4-FFF2-40B4-BE49-F238E27FC236}">
                  <a16:creationId xmlns:a16="http://schemas.microsoft.com/office/drawing/2014/main" id="{4FAD24A4-EA73-163D-95E5-B49D2243C671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00;p73">
              <a:extLst>
                <a:ext uri="{FF2B5EF4-FFF2-40B4-BE49-F238E27FC236}">
                  <a16:creationId xmlns:a16="http://schemas.microsoft.com/office/drawing/2014/main" id="{9FF922C5-F935-2B48-06BB-0F53A02455B2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01;p73">
              <a:extLst>
                <a:ext uri="{FF2B5EF4-FFF2-40B4-BE49-F238E27FC236}">
                  <a16:creationId xmlns:a16="http://schemas.microsoft.com/office/drawing/2014/main" id="{B6A8CFB7-4D0D-0EAB-D29F-39B3FDC5F4CD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6832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059CCF13-3A63-9451-9800-C6394B82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7E67F1EA-DD40-23A8-4690-F1E0E620E7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2669" y="3177750"/>
            <a:ext cx="3220615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TESZTELÉS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C80BCDB3-1E2C-B76C-9040-D6520C28872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u-HU" dirty="0"/>
              <a:t>2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1BD2F5D2-3DFE-F89F-F04D-6C9DFA14AF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u-HU" dirty="0"/>
              <a:t>2. Csapat: Parkolóautomata szoftver tesztelése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21CAE168-7FDE-0B08-60CE-7C77193305AF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pSp>
        <p:nvGrpSpPr>
          <p:cNvPr id="3" name="Google Shape;2117;p64">
            <a:extLst>
              <a:ext uri="{FF2B5EF4-FFF2-40B4-BE49-F238E27FC236}">
                <a16:creationId xmlns:a16="http://schemas.microsoft.com/office/drawing/2014/main" id="{E0A34F28-2368-7A27-8D18-36D2ECC34DEC}"/>
              </a:ext>
            </a:extLst>
          </p:cNvPr>
          <p:cNvGrpSpPr/>
          <p:nvPr/>
        </p:nvGrpSpPr>
        <p:grpSpPr>
          <a:xfrm>
            <a:off x="3123132" y="660400"/>
            <a:ext cx="2897735" cy="2108550"/>
            <a:chOff x="238125" y="1973675"/>
            <a:chExt cx="2558775" cy="1951825"/>
          </a:xfrm>
        </p:grpSpPr>
        <p:sp>
          <p:nvSpPr>
            <p:cNvPr id="4" name="Google Shape;2118;p64">
              <a:extLst>
                <a:ext uri="{FF2B5EF4-FFF2-40B4-BE49-F238E27FC236}">
                  <a16:creationId xmlns:a16="http://schemas.microsoft.com/office/drawing/2014/main" id="{91AE4B32-9BC5-2972-0FAA-BAB81A2BCED4}"/>
                </a:ext>
              </a:extLst>
            </p:cNvPr>
            <p:cNvSpPr/>
            <p:nvPr/>
          </p:nvSpPr>
          <p:spPr>
            <a:xfrm>
              <a:off x="325550" y="2055000"/>
              <a:ext cx="2386075" cy="1459975"/>
            </a:xfrm>
            <a:custGeom>
              <a:avLst/>
              <a:gdLst/>
              <a:ahLst/>
              <a:cxnLst/>
              <a:rect l="l" t="t" r="r" b="b"/>
              <a:pathLst>
                <a:path w="95443" h="58399" extrusionOk="0">
                  <a:moveTo>
                    <a:pt x="94925" y="516"/>
                  </a:moveTo>
                  <a:lnTo>
                    <a:pt x="94925" y="57881"/>
                  </a:lnTo>
                  <a:lnTo>
                    <a:pt x="518" y="57881"/>
                  </a:lnTo>
                  <a:lnTo>
                    <a:pt x="518" y="516"/>
                  </a:lnTo>
                  <a:close/>
                  <a:moveTo>
                    <a:pt x="260" y="0"/>
                  </a:moveTo>
                  <a:cubicBezTo>
                    <a:pt x="118" y="0"/>
                    <a:pt x="1" y="115"/>
                    <a:pt x="1" y="259"/>
                  </a:cubicBezTo>
                  <a:lnTo>
                    <a:pt x="1" y="58140"/>
                  </a:lnTo>
                  <a:cubicBezTo>
                    <a:pt x="1" y="58282"/>
                    <a:pt x="118" y="58399"/>
                    <a:pt x="260" y="58399"/>
                  </a:cubicBezTo>
                  <a:lnTo>
                    <a:pt x="95184" y="58399"/>
                  </a:lnTo>
                  <a:cubicBezTo>
                    <a:pt x="95326" y="58399"/>
                    <a:pt x="95441" y="58282"/>
                    <a:pt x="95441" y="58140"/>
                  </a:cubicBezTo>
                  <a:lnTo>
                    <a:pt x="95441" y="259"/>
                  </a:lnTo>
                  <a:cubicBezTo>
                    <a:pt x="95442" y="115"/>
                    <a:pt x="95326" y="0"/>
                    <a:pt x="95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119;p64">
              <a:extLst>
                <a:ext uri="{FF2B5EF4-FFF2-40B4-BE49-F238E27FC236}">
                  <a16:creationId xmlns:a16="http://schemas.microsoft.com/office/drawing/2014/main" id="{B075D849-C45D-FF88-BEFE-A1BE390A4613}"/>
                </a:ext>
              </a:extLst>
            </p:cNvPr>
            <p:cNvSpPr/>
            <p:nvPr/>
          </p:nvSpPr>
          <p:spPr>
            <a:xfrm>
              <a:off x="1075325" y="3589700"/>
              <a:ext cx="884075" cy="335800"/>
            </a:xfrm>
            <a:custGeom>
              <a:avLst/>
              <a:gdLst/>
              <a:ahLst/>
              <a:cxnLst/>
              <a:rect l="l" t="t" r="r" b="b"/>
              <a:pathLst>
                <a:path w="35363" h="13432" extrusionOk="0">
                  <a:moveTo>
                    <a:pt x="28176" y="0"/>
                  </a:moveTo>
                  <a:cubicBezTo>
                    <a:pt x="28078" y="0"/>
                    <a:pt x="27996" y="34"/>
                    <a:pt x="27932" y="102"/>
                  </a:cubicBezTo>
                  <a:cubicBezTo>
                    <a:pt x="27790" y="253"/>
                    <a:pt x="27790" y="509"/>
                    <a:pt x="27932" y="1118"/>
                  </a:cubicBezTo>
                  <a:cubicBezTo>
                    <a:pt x="27985" y="1344"/>
                    <a:pt x="28047" y="1651"/>
                    <a:pt x="28119" y="2009"/>
                  </a:cubicBezTo>
                  <a:cubicBezTo>
                    <a:pt x="28420" y="3516"/>
                    <a:pt x="28876" y="5791"/>
                    <a:pt x="29651" y="7179"/>
                  </a:cubicBezTo>
                  <a:cubicBezTo>
                    <a:pt x="30394" y="8514"/>
                    <a:pt x="31835" y="9775"/>
                    <a:pt x="32886" y="10698"/>
                  </a:cubicBezTo>
                  <a:cubicBezTo>
                    <a:pt x="33194" y="10968"/>
                    <a:pt x="33463" y="11203"/>
                    <a:pt x="33660" y="11396"/>
                  </a:cubicBezTo>
                  <a:cubicBezTo>
                    <a:pt x="34197" y="11917"/>
                    <a:pt x="34530" y="12027"/>
                    <a:pt x="34711" y="12085"/>
                  </a:cubicBezTo>
                  <a:cubicBezTo>
                    <a:pt x="34724" y="12089"/>
                    <a:pt x="34738" y="12094"/>
                    <a:pt x="34750" y="12098"/>
                  </a:cubicBezTo>
                  <a:cubicBezTo>
                    <a:pt x="34781" y="12255"/>
                    <a:pt x="34798" y="12433"/>
                    <a:pt x="34708" y="12569"/>
                  </a:cubicBezTo>
                  <a:cubicBezTo>
                    <a:pt x="34621" y="12698"/>
                    <a:pt x="34443" y="12789"/>
                    <a:pt x="34176" y="12841"/>
                  </a:cubicBezTo>
                  <a:cubicBezTo>
                    <a:pt x="33894" y="12897"/>
                    <a:pt x="33576" y="12915"/>
                    <a:pt x="33188" y="12915"/>
                  </a:cubicBezTo>
                  <a:cubicBezTo>
                    <a:pt x="32866" y="12915"/>
                    <a:pt x="32496" y="12902"/>
                    <a:pt x="32057" y="12888"/>
                  </a:cubicBezTo>
                  <a:cubicBezTo>
                    <a:pt x="31412" y="12865"/>
                    <a:pt x="30607" y="12837"/>
                    <a:pt x="29586" y="12837"/>
                  </a:cubicBezTo>
                  <a:lnTo>
                    <a:pt x="8800" y="12837"/>
                  </a:lnTo>
                  <a:cubicBezTo>
                    <a:pt x="7800" y="12837"/>
                    <a:pt x="6833" y="12841"/>
                    <a:pt x="5939" y="12847"/>
                  </a:cubicBezTo>
                  <a:cubicBezTo>
                    <a:pt x="5199" y="12851"/>
                    <a:pt x="4507" y="12855"/>
                    <a:pt x="3887" y="12855"/>
                  </a:cubicBezTo>
                  <a:cubicBezTo>
                    <a:pt x="3179" y="12855"/>
                    <a:pt x="2567" y="12850"/>
                    <a:pt x="2090" y="12837"/>
                  </a:cubicBezTo>
                  <a:lnTo>
                    <a:pt x="1783" y="12828"/>
                  </a:lnTo>
                  <a:cubicBezTo>
                    <a:pt x="706" y="12798"/>
                    <a:pt x="700" y="12793"/>
                    <a:pt x="570" y="12668"/>
                  </a:cubicBezTo>
                  <a:cubicBezTo>
                    <a:pt x="526" y="12627"/>
                    <a:pt x="520" y="12598"/>
                    <a:pt x="520" y="12571"/>
                  </a:cubicBezTo>
                  <a:cubicBezTo>
                    <a:pt x="520" y="12511"/>
                    <a:pt x="556" y="12333"/>
                    <a:pt x="912" y="11971"/>
                  </a:cubicBezTo>
                  <a:cubicBezTo>
                    <a:pt x="1108" y="11772"/>
                    <a:pt x="1452" y="11550"/>
                    <a:pt x="1848" y="11293"/>
                  </a:cubicBezTo>
                  <a:cubicBezTo>
                    <a:pt x="2410" y="10928"/>
                    <a:pt x="3111" y="10473"/>
                    <a:pt x="3670" y="9890"/>
                  </a:cubicBezTo>
                  <a:lnTo>
                    <a:pt x="4006" y="9544"/>
                  </a:lnTo>
                  <a:cubicBezTo>
                    <a:pt x="4870" y="8657"/>
                    <a:pt x="5947" y="7555"/>
                    <a:pt x="6528" y="6084"/>
                  </a:cubicBezTo>
                  <a:cubicBezTo>
                    <a:pt x="7009" y="4866"/>
                    <a:pt x="7250" y="2705"/>
                    <a:pt x="7410" y="1274"/>
                  </a:cubicBezTo>
                  <a:cubicBezTo>
                    <a:pt x="7465" y="775"/>
                    <a:pt x="7515" y="343"/>
                    <a:pt x="7558" y="87"/>
                  </a:cubicBezTo>
                  <a:lnTo>
                    <a:pt x="7048" y="0"/>
                  </a:lnTo>
                  <a:cubicBezTo>
                    <a:pt x="7002" y="269"/>
                    <a:pt x="6956" y="688"/>
                    <a:pt x="6896" y="1217"/>
                  </a:cubicBezTo>
                  <a:cubicBezTo>
                    <a:pt x="6739" y="2621"/>
                    <a:pt x="6503" y="4741"/>
                    <a:pt x="6047" y="5895"/>
                  </a:cubicBezTo>
                  <a:cubicBezTo>
                    <a:pt x="5506" y="7268"/>
                    <a:pt x="4512" y="8286"/>
                    <a:pt x="3637" y="9183"/>
                  </a:cubicBezTo>
                  <a:lnTo>
                    <a:pt x="3298" y="9533"/>
                  </a:lnTo>
                  <a:cubicBezTo>
                    <a:pt x="2779" y="10073"/>
                    <a:pt x="2136" y="10490"/>
                    <a:pt x="1568" y="10859"/>
                  </a:cubicBezTo>
                  <a:cubicBezTo>
                    <a:pt x="1145" y="11133"/>
                    <a:pt x="780" y="11369"/>
                    <a:pt x="546" y="11608"/>
                  </a:cubicBezTo>
                  <a:cubicBezTo>
                    <a:pt x="172" y="11988"/>
                    <a:pt x="0" y="12296"/>
                    <a:pt x="5" y="12578"/>
                  </a:cubicBezTo>
                  <a:cubicBezTo>
                    <a:pt x="6" y="12752"/>
                    <a:pt x="78" y="12911"/>
                    <a:pt x="211" y="13040"/>
                  </a:cubicBezTo>
                  <a:cubicBezTo>
                    <a:pt x="492" y="13309"/>
                    <a:pt x="611" y="13312"/>
                    <a:pt x="1770" y="13345"/>
                  </a:cubicBezTo>
                  <a:lnTo>
                    <a:pt x="2075" y="13354"/>
                  </a:lnTo>
                  <a:cubicBezTo>
                    <a:pt x="2547" y="13367"/>
                    <a:pt x="3149" y="13372"/>
                    <a:pt x="3843" y="13372"/>
                  </a:cubicBezTo>
                  <a:cubicBezTo>
                    <a:pt x="4476" y="13372"/>
                    <a:pt x="5185" y="13368"/>
                    <a:pt x="5944" y="13364"/>
                  </a:cubicBezTo>
                  <a:cubicBezTo>
                    <a:pt x="6836" y="13358"/>
                    <a:pt x="7802" y="13354"/>
                    <a:pt x="8802" y="13354"/>
                  </a:cubicBezTo>
                  <a:lnTo>
                    <a:pt x="29586" y="13354"/>
                  </a:lnTo>
                  <a:cubicBezTo>
                    <a:pt x="30598" y="13354"/>
                    <a:pt x="31397" y="13381"/>
                    <a:pt x="32040" y="13403"/>
                  </a:cubicBezTo>
                  <a:cubicBezTo>
                    <a:pt x="32484" y="13420"/>
                    <a:pt x="32860" y="13432"/>
                    <a:pt x="33192" y="13432"/>
                  </a:cubicBezTo>
                  <a:cubicBezTo>
                    <a:pt x="33609" y="13432"/>
                    <a:pt x="33956" y="13412"/>
                    <a:pt x="34274" y="13348"/>
                  </a:cubicBezTo>
                  <a:cubicBezTo>
                    <a:pt x="34682" y="13269"/>
                    <a:pt x="34972" y="13103"/>
                    <a:pt x="35137" y="12856"/>
                  </a:cubicBezTo>
                  <a:cubicBezTo>
                    <a:pt x="35363" y="12517"/>
                    <a:pt x="35282" y="12127"/>
                    <a:pt x="35252" y="11980"/>
                  </a:cubicBezTo>
                  <a:cubicBezTo>
                    <a:pt x="35195" y="11701"/>
                    <a:pt x="35007" y="11639"/>
                    <a:pt x="34871" y="11593"/>
                  </a:cubicBezTo>
                  <a:cubicBezTo>
                    <a:pt x="34721" y="11545"/>
                    <a:pt x="34470" y="11463"/>
                    <a:pt x="34019" y="11025"/>
                  </a:cubicBezTo>
                  <a:cubicBezTo>
                    <a:pt x="33815" y="10828"/>
                    <a:pt x="33540" y="10585"/>
                    <a:pt x="33225" y="10309"/>
                  </a:cubicBezTo>
                  <a:cubicBezTo>
                    <a:pt x="32202" y="9412"/>
                    <a:pt x="30800" y="8183"/>
                    <a:pt x="30101" y="6928"/>
                  </a:cubicBezTo>
                  <a:cubicBezTo>
                    <a:pt x="29367" y="5611"/>
                    <a:pt x="28902" y="3294"/>
                    <a:pt x="28625" y="1909"/>
                  </a:cubicBezTo>
                  <a:cubicBezTo>
                    <a:pt x="28552" y="1542"/>
                    <a:pt x="28489" y="1231"/>
                    <a:pt x="28435" y="1000"/>
                  </a:cubicBezTo>
                  <a:cubicBezTo>
                    <a:pt x="28376" y="749"/>
                    <a:pt x="28353" y="598"/>
                    <a:pt x="28346" y="510"/>
                  </a:cubicBezTo>
                  <a:cubicBezTo>
                    <a:pt x="28373" y="500"/>
                    <a:pt x="28400" y="486"/>
                    <a:pt x="28422" y="468"/>
                  </a:cubicBezTo>
                  <a:lnTo>
                    <a:pt x="28537" y="268"/>
                  </a:lnTo>
                  <a:lnTo>
                    <a:pt x="28247" y="234"/>
                  </a:lnTo>
                  <a:lnTo>
                    <a:pt x="28111" y="56"/>
                  </a:lnTo>
                  <a:cubicBezTo>
                    <a:pt x="28153" y="24"/>
                    <a:pt x="28202" y="8"/>
                    <a:pt x="28254" y="8"/>
                  </a:cubicBezTo>
                  <a:cubicBezTo>
                    <a:pt x="28256" y="8"/>
                    <a:pt x="28258" y="8"/>
                    <a:pt x="28261" y="8"/>
                  </a:cubicBezTo>
                  <a:cubicBezTo>
                    <a:pt x="28231" y="3"/>
                    <a:pt x="28203" y="0"/>
                    <a:pt x="281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120;p64">
              <a:extLst>
                <a:ext uri="{FF2B5EF4-FFF2-40B4-BE49-F238E27FC236}">
                  <a16:creationId xmlns:a16="http://schemas.microsoft.com/office/drawing/2014/main" id="{294756EE-BE6E-59C8-7CFE-E8361FBE3931}"/>
                </a:ext>
              </a:extLst>
            </p:cNvPr>
            <p:cNvSpPr/>
            <p:nvPr/>
          </p:nvSpPr>
          <p:spPr>
            <a:xfrm>
              <a:off x="238125" y="1973675"/>
              <a:ext cx="2558775" cy="1623600"/>
            </a:xfrm>
            <a:custGeom>
              <a:avLst/>
              <a:gdLst/>
              <a:ahLst/>
              <a:cxnLst/>
              <a:rect l="l" t="t" r="r" b="b"/>
              <a:pathLst>
                <a:path w="102351" h="64944" extrusionOk="0">
                  <a:moveTo>
                    <a:pt x="99608" y="516"/>
                  </a:moveTo>
                  <a:cubicBezTo>
                    <a:pt x="100838" y="516"/>
                    <a:pt x="101835" y="1513"/>
                    <a:pt x="101835" y="2744"/>
                  </a:cubicBezTo>
                  <a:lnTo>
                    <a:pt x="101835" y="62200"/>
                  </a:lnTo>
                  <a:cubicBezTo>
                    <a:pt x="101833" y="63429"/>
                    <a:pt x="100836" y="64425"/>
                    <a:pt x="99608" y="64426"/>
                  </a:cubicBezTo>
                  <a:lnTo>
                    <a:pt x="2743" y="64426"/>
                  </a:lnTo>
                  <a:cubicBezTo>
                    <a:pt x="1514" y="64425"/>
                    <a:pt x="519" y="63429"/>
                    <a:pt x="517" y="62200"/>
                  </a:cubicBezTo>
                  <a:lnTo>
                    <a:pt x="517" y="2744"/>
                  </a:lnTo>
                  <a:cubicBezTo>
                    <a:pt x="519" y="1515"/>
                    <a:pt x="1514" y="518"/>
                    <a:pt x="2743" y="516"/>
                  </a:cubicBezTo>
                  <a:close/>
                  <a:moveTo>
                    <a:pt x="2743" y="1"/>
                  </a:moveTo>
                  <a:cubicBezTo>
                    <a:pt x="1230" y="1"/>
                    <a:pt x="0" y="1229"/>
                    <a:pt x="0" y="2744"/>
                  </a:cubicBezTo>
                  <a:lnTo>
                    <a:pt x="0" y="62200"/>
                  </a:lnTo>
                  <a:cubicBezTo>
                    <a:pt x="0" y="63713"/>
                    <a:pt x="1230" y="64943"/>
                    <a:pt x="2743" y="64943"/>
                  </a:cubicBezTo>
                  <a:lnTo>
                    <a:pt x="99608" y="64943"/>
                  </a:lnTo>
                  <a:cubicBezTo>
                    <a:pt x="101120" y="64943"/>
                    <a:pt x="102351" y="63713"/>
                    <a:pt x="102351" y="62200"/>
                  </a:cubicBezTo>
                  <a:lnTo>
                    <a:pt x="102351" y="2744"/>
                  </a:lnTo>
                  <a:cubicBezTo>
                    <a:pt x="102351" y="1228"/>
                    <a:pt x="101123" y="1"/>
                    <a:pt x="99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21;p64">
              <a:extLst>
                <a:ext uri="{FF2B5EF4-FFF2-40B4-BE49-F238E27FC236}">
                  <a16:creationId xmlns:a16="http://schemas.microsoft.com/office/drawing/2014/main" id="{762B1109-B261-8096-664B-2D0BD28F05C6}"/>
                </a:ext>
              </a:extLst>
            </p:cNvPr>
            <p:cNvSpPr/>
            <p:nvPr/>
          </p:nvSpPr>
          <p:spPr>
            <a:xfrm>
              <a:off x="255425" y="1991200"/>
              <a:ext cx="2524175" cy="1588500"/>
            </a:xfrm>
            <a:custGeom>
              <a:avLst/>
              <a:gdLst/>
              <a:ahLst/>
              <a:cxnLst/>
              <a:rect l="l" t="t" r="r" b="b"/>
              <a:pathLst>
                <a:path w="100967" h="63540" extrusionOk="0">
                  <a:moveTo>
                    <a:pt x="98640" y="518"/>
                  </a:moveTo>
                  <a:cubicBezTo>
                    <a:pt x="99639" y="518"/>
                    <a:pt x="100449" y="1328"/>
                    <a:pt x="100449" y="2328"/>
                  </a:cubicBezTo>
                  <a:lnTo>
                    <a:pt x="100449" y="61214"/>
                  </a:lnTo>
                  <a:cubicBezTo>
                    <a:pt x="100448" y="62212"/>
                    <a:pt x="99639" y="63022"/>
                    <a:pt x="98640" y="63024"/>
                  </a:cubicBezTo>
                  <a:lnTo>
                    <a:pt x="2328" y="63024"/>
                  </a:lnTo>
                  <a:cubicBezTo>
                    <a:pt x="1328" y="63022"/>
                    <a:pt x="519" y="62212"/>
                    <a:pt x="517" y="61214"/>
                  </a:cubicBezTo>
                  <a:lnTo>
                    <a:pt x="517" y="2328"/>
                  </a:lnTo>
                  <a:cubicBezTo>
                    <a:pt x="519" y="1328"/>
                    <a:pt x="1328" y="519"/>
                    <a:pt x="2328" y="518"/>
                  </a:cubicBezTo>
                  <a:close/>
                  <a:moveTo>
                    <a:pt x="2328" y="1"/>
                  </a:moveTo>
                  <a:cubicBezTo>
                    <a:pt x="1042" y="2"/>
                    <a:pt x="2" y="1043"/>
                    <a:pt x="0" y="2328"/>
                  </a:cubicBezTo>
                  <a:lnTo>
                    <a:pt x="0" y="61214"/>
                  </a:lnTo>
                  <a:cubicBezTo>
                    <a:pt x="2" y="62498"/>
                    <a:pt x="1042" y="63538"/>
                    <a:pt x="2328" y="63540"/>
                  </a:cubicBezTo>
                  <a:lnTo>
                    <a:pt x="98640" y="63540"/>
                  </a:lnTo>
                  <a:cubicBezTo>
                    <a:pt x="99925" y="63538"/>
                    <a:pt x="100965" y="62498"/>
                    <a:pt x="100967" y="61214"/>
                  </a:cubicBezTo>
                  <a:lnTo>
                    <a:pt x="100967" y="2328"/>
                  </a:lnTo>
                  <a:cubicBezTo>
                    <a:pt x="100967" y="1043"/>
                    <a:pt x="99925" y="1"/>
                    <a:pt x="986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22;p64">
              <a:extLst>
                <a:ext uri="{FF2B5EF4-FFF2-40B4-BE49-F238E27FC236}">
                  <a16:creationId xmlns:a16="http://schemas.microsoft.com/office/drawing/2014/main" id="{B7DA9CDC-90E7-610C-2BF0-59430E18ABC7}"/>
                </a:ext>
              </a:extLst>
            </p:cNvPr>
            <p:cNvSpPr/>
            <p:nvPr/>
          </p:nvSpPr>
          <p:spPr>
            <a:xfrm>
              <a:off x="1091150" y="3888075"/>
              <a:ext cx="856825" cy="25"/>
            </a:xfrm>
            <a:custGeom>
              <a:avLst/>
              <a:gdLst/>
              <a:ahLst/>
              <a:cxnLst/>
              <a:rect l="l" t="t" r="r" b="b"/>
              <a:pathLst>
                <a:path w="34273" h="1" extrusionOk="0">
                  <a:moveTo>
                    <a:pt x="1" y="0"/>
                  </a:moveTo>
                  <a:lnTo>
                    <a:pt x="342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123;p64">
              <a:extLst>
                <a:ext uri="{FF2B5EF4-FFF2-40B4-BE49-F238E27FC236}">
                  <a16:creationId xmlns:a16="http://schemas.microsoft.com/office/drawing/2014/main" id="{36C1B31E-E569-F64A-1408-557D14368E18}"/>
                </a:ext>
              </a:extLst>
            </p:cNvPr>
            <p:cNvSpPr/>
            <p:nvPr/>
          </p:nvSpPr>
          <p:spPr>
            <a:xfrm>
              <a:off x="1091125" y="3881600"/>
              <a:ext cx="856850" cy="12925"/>
            </a:xfrm>
            <a:custGeom>
              <a:avLst/>
              <a:gdLst/>
              <a:ahLst/>
              <a:cxnLst/>
              <a:rect l="l" t="t" r="r" b="b"/>
              <a:pathLst>
                <a:path w="34274" h="517" extrusionOk="0">
                  <a:moveTo>
                    <a:pt x="0" y="1"/>
                  </a:moveTo>
                  <a:lnTo>
                    <a:pt x="0" y="516"/>
                  </a:lnTo>
                  <a:lnTo>
                    <a:pt x="34273" y="516"/>
                  </a:lnTo>
                  <a:lnTo>
                    <a:pt x="342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" name="Kép 12" descr="A képen szöveg, képernyőkép, Betűtípus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44CF31A-B69A-9E59-3596-D1AB94C5C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57" y="749807"/>
            <a:ext cx="2669072" cy="156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0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AA713024-9A8C-F4E1-1072-35325F81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2E205694-F6F7-F272-C0BB-15470EB44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TESZTELÉSI STRATÉGIA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62DE07D6-2C0B-CF02-7078-74E690233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591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hu-HU" sz="1200" b="1" dirty="0"/>
              <a:t>Tesztelt szoftver:</a:t>
            </a:r>
            <a:r>
              <a:rPr lang="hu-HU" sz="1200" dirty="0"/>
              <a:t> </a:t>
            </a:r>
            <a:r>
              <a:rPr lang="hu-HU" sz="1200" dirty="0" err="1"/>
              <a:t>Automatic</a:t>
            </a:r>
            <a:r>
              <a:rPr lang="hu-HU" sz="1200" dirty="0"/>
              <a:t> Parking </a:t>
            </a:r>
            <a:r>
              <a:rPr lang="hu-HU" sz="1200" dirty="0" err="1"/>
              <a:t>Simulation</a:t>
            </a:r>
            <a:r>
              <a:rPr lang="hu-HU" sz="1200" dirty="0"/>
              <a:t> (1. Csapat).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spcAft>
                <a:spcPts val="1600"/>
              </a:spcAft>
              <a:buNone/>
            </a:pPr>
            <a:r>
              <a:rPr lang="hu-HU" sz="1200" b="1" dirty="0"/>
              <a:t>Fő tesztelők:</a:t>
            </a:r>
            <a:r>
              <a:rPr lang="hu-HU" sz="1200" dirty="0"/>
              <a:t> Lőrincz Márton (Tesztvezető), Csikós Bendegúz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hu-HU" sz="1200" dirty="0"/>
              <a:t>Specifikáció tesztelése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hu-HU" sz="1200" dirty="0"/>
              <a:t>A specifikációnak megfelelő tesztek elvégzése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hu-HU" sz="1200" b="1" dirty="0"/>
              <a:t>Módszertan:</a:t>
            </a:r>
          </a:p>
          <a:p>
            <a:pPr marL="171450" indent="-171450">
              <a:spcAft>
                <a:spcPts val="1600"/>
              </a:spcAft>
            </a:pPr>
            <a:r>
              <a:rPr lang="hu-HU" sz="1200" b="1" dirty="0"/>
              <a:t>Statikus tesztelés</a:t>
            </a:r>
            <a:r>
              <a:rPr lang="hu-HU" sz="1200" dirty="0"/>
              <a:t>:  Dokumentáció alapú elemzés (Specifikáció ellenőrzése).</a:t>
            </a:r>
          </a:p>
          <a:p>
            <a:pPr marL="171450" indent="-171450">
              <a:spcAft>
                <a:spcPts val="1600"/>
              </a:spcAft>
            </a:pPr>
            <a:r>
              <a:rPr lang="hu-HU" sz="1200" b="1" dirty="0"/>
              <a:t>Dinamikus tesztelés: </a:t>
            </a:r>
            <a:r>
              <a:rPr lang="hu-HU" sz="1200" dirty="0"/>
              <a:t>Feketedobozos tesztelés (Black-</a:t>
            </a:r>
            <a:r>
              <a:rPr lang="hu-HU" sz="1200" dirty="0" err="1"/>
              <a:t>box</a:t>
            </a:r>
            <a:r>
              <a:rPr lang="hu-HU" sz="1200" dirty="0"/>
              <a:t>), Rendszerteszt szint.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hu-HU" sz="1200" dirty="0"/>
              <a:t>Környezet: Windows 11, Java 21.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hu-HU" sz="1600" b="1" dirty="0"/>
              <a:t>EREDMÉNYEK: </a:t>
            </a:r>
            <a:r>
              <a:rPr lang="hu-HU" sz="1600" dirty="0"/>
              <a:t>Kielégítőek</a:t>
            </a:r>
            <a:endParaRPr lang="hu-HU"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D19BA68E-A75B-10FB-3417-5E47C7E68204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AutoShape 4">
            <a:extLst>
              <a:ext uri="{FF2B5EF4-FFF2-40B4-BE49-F238E27FC236}">
                <a16:creationId xmlns:a16="http://schemas.microsoft.com/office/drawing/2014/main" id="{E75DE782-19D9-5CF0-AC51-936C808DDF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041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477302E9-054D-E249-EC82-D4DFCA66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A7282789-5B18-E4E5-BC92-80A27F12C1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cap="all" dirty="0"/>
              <a:t>Statikus tesztelés:</a:t>
            </a:r>
            <a:br>
              <a:rPr lang="hu-HU" dirty="0"/>
            </a:br>
            <a:r>
              <a:rPr lang="hu-HU" sz="2000" dirty="0"/>
              <a:t>A Specifikáció hibái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544FDAE0-9CC3-89FF-8924-EE04BB767C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591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Nyelvfüggetlenség sérülése: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Java-hoz kötött specifikáció, nem absztrakt üzleti logikát írt le.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Inkonzisztencia: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visszajáró kiadása változó címletsorrendben volt definiálva -&gt; Tesztelhetetlen.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Tisztázatlan fogalmak: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"Limit" szó egyszerre jelentett kasszaegyenleget és </a:t>
            </a:r>
            <a:r>
              <a:rPr lang="hu-HU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</a:t>
            </a: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konfigurációs korlátot.</a:t>
            </a:r>
            <a:r>
              <a:rPr lang="hu-HU" sz="1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0" indent="0">
              <a:buNone/>
            </a:pPr>
            <a:endParaRPr lang="hu-HU" sz="1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hu-HU" sz="1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(Forrás: Parkolóautomata_specifikacio_jegyzokonyv.docx)</a:t>
            </a:r>
          </a:p>
          <a:p>
            <a:pPr marL="0" lvl="0" indent="0">
              <a:buNone/>
            </a:pPr>
            <a:endParaRPr lang="hu-HU"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7EF6EC98-CC21-6ACC-74AF-5D6CC4330370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AutoShape 4">
            <a:extLst>
              <a:ext uri="{FF2B5EF4-FFF2-40B4-BE49-F238E27FC236}">
                <a16:creationId xmlns:a16="http://schemas.microsoft.com/office/drawing/2014/main" id="{BA55B4E8-CA26-0804-9C78-B73279A1F4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023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DF0D536C-6C02-6244-03AF-3DC671F2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ADC9D915-3663-D565-CC25-76E974E9B9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cap="all" dirty="0"/>
              <a:t>Statikus tesztelés:</a:t>
            </a:r>
            <a:br>
              <a:rPr lang="hu-HU" dirty="0"/>
            </a:br>
            <a:r>
              <a:rPr lang="hu-HU" sz="2000" dirty="0"/>
              <a:t>Kritikus tervezési hiányosságok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2D31E8AD-4107-B710-75A8-8F8D7677D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591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Hibakezelés problémája: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specifikáció szerint kritikus hiba (pl. </a:t>
            </a:r>
            <a:r>
              <a:rPr lang="hu-HU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LimitExceededException</a:t>
            </a: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esetén a program teljesen leáll.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Értékelés</a:t>
            </a: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Egy köztéri automatánál ez elfogadhatatlan (nem indul újra, beavatkozás szükséges)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Mérhetetlenség</a:t>
            </a: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nem-funkcionális követelmények (pl. "gyors", "biztonságos") nem voltak számszerűsítve.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(Forrás: Parkolóautomata_specifikacio_jegyzokonyv.docx)</a:t>
            </a:r>
            <a:endParaRPr lang="hu-HU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endParaRPr lang="hu-HU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endParaRPr lang="hu-HU"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03F9AB2A-E6C9-55BC-41BE-46A3C3B358B0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AutoShape 4">
            <a:extLst>
              <a:ext uri="{FF2B5EF4-FFF2-40B4-BE49-F238E27FC236}">
                <a16:creationId xmlns:a16="http://schemas.microsoft.com/office/drawing/2014/main" id="{9AE846A8-05B4-78AF-42CB-1C83C4EF97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3791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9BFC511-E131-F02A-8451-8BC0025CF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65058D68-C371-E630-9109-C3E1157B7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cap="all" dirty="0"/>
              <a:t>Dinamikus tesztelés:</a:t>
            </a:r>
            <a:br>
              <a:rPr lang="hu-HU" dirty="0"/>
            </a:br>
            <a:r>
              <a:rPr lang="hu-HU" sz="2000" dirty="0"/>
              <a:t>Végrehajtás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4352E59E-1FEE-52C5-9FCF-1804D007E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591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/>
              <a:t>Verzió</a:t>
            </a:r>
            <a:r>
              <a:rPr lang="hu-HU" sz="1200" dirty="0"/>
              <a:t>: v2.0 tesztelése (a v1.0 hibáinak javítása után).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/>
              <a:t>Teszt típusok</a:t>
            </a:r>
            <a:r>
              <a:rPr lang="hu-HU" sz="1200" dirty="0"/>
              <a:t>: Funkcionális tesztek (System Testing).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/>
              <a:t>Tesztesetek</a:t>
            </a:r>
            <a:r>
              <a:rPr lang="hu-HU" sz="1200" dirty="0"/>
              <a:t>: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/>
              <a:t>Adminisztrátori funkciók (Belépés, Pénzfeltöltés, </a:t>
            </a:r>
            <a:r>
              <a:rPr lang="hu-HU" sz="1200" dirty="0" err="1"/>
              <a:t>Balance</a:t>
            </a:r>
            <a:r>
              <a:rPr lang="hu-HU" sz="1200" dirty="0"/>
              <a:t> lekérdezés).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/>
              <a:t>Felhasználói folyamatok (Parkolás indítása, Fizetés).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/>
              <a:t>Teljes állapotátmenet tesztelés implementálása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/>
              <a:t>Határérték-analízis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dirty="0"/>
              <a:t>Példa teszteset (TE-A-05-1): </a:t>
            </a:r>
            <a:r>
              <a:rPr lang="hu-HU" sz="1200" dirty="0" err="1"/>
              <a:t>Balance</a:t>
            </a:r>
            <a:r>
              <a:rPr lang="hu-HU" sz="1200" dirty="0"/>
              <a:t> menü megnyitása -&gt; Sikeres (PASS).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i="1" dirty="0"/>
              <a:t>(Forrás: SZOFTVERTESZTELÉSI JEGYZŐKÖNYV.docx)</a:t>
            </a:r>
            <a:endParaRPr lang="hu-HU" sz="12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hu-HU"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1C591A82-7929-83C7-42C3-A786E10801A5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AutoShape 4">
            <a:extLst>
              <a:ext uri="{FF2B5EF4-FFF2-40B4-BE49-F238E27FC236}">
                <a16:creationId xmlns:a16="http://schemas.microsoft.com/office/drawing/2014/main" id="{0EC51975-01C0-E5CF-8438-FD7FB128CB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110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4648FFB4-8229-D107-E456-C0F9FD52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667C3B11-63F8-E8DC-933C-EAEA679E4D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cap="all" dirty="0"/>
              <a:t>Eredmények és Hibajegyek</a:t>
            </a:r>
            <a:endParaRPr cap="all"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4A3B30FA-C1D4-0AE0-EEA9-4526860BE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591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/>
              <a:t>Javított hibák: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dirty="0"/>
              <a:t>Az 1.0-ás verzió hibái a tesztelés hatására javításra kerültek.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200" b="1" dirty="0"/>
              <a:t>Végső állapot (v2.0):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b="1" dirty="0" err="1"/>
              <a:t>Admin</a:t>
            </a:r>
            <a:r>
              <a:rPr lang="hu-HU" sz="1200" b="1" dirty="0"/>
              <a:t> funkciók: </a:t>
            </a:r>
            <a:r>
              <a:rPr lang="hu-HU" sz="1200" dirty="0"/>
              <a:t>Megfelelően működnek.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b="1" dirty="0"/>
              <a:t>Fizetési folyamat</a:t>
            </a:r>
            <a:r>
              <a:rPr lang="hu-HU" sz="1200" dirty="0"/>
              <a:t>: Stabil.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</a:pPr>
            <a:r>
              <a:rPr lang="hu-HU" sz="1200" b="1" dirty="0"/>
              <a:t>Kivételkezelés</a:t>
            </a:r>
            <a:r>
              <a:rPr lang="hu-HU" sz="1200" dirty="0"/>
              <a:t>: A specifikáció hibái ellenére a szoftver működőképes lett.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hu-HU" sz="12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1600" b="1" dirty="0"/>
              <a:t>Összesített eredmény: A szoftver átment a teszteken (PASS).</a:t>
            </a:r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22E3C322-7743-9ACA-7FAF-3EE787448D6E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AutoShape 4">
            <a:extLst>
              <a:ext uri="{FF2B5EF4-FFF2-40B4-BE49-F238E27FC236}">
                <a16:creationId xmlns:a16="http://schemas.microsoft.com/office/drawing/2014/main" id="{75FD4015-2B12-479A-D074-A073795E76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6604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62"/>
          <p:cNvSpPr txBox="1">
            <a:spLocks noGrp="1"/>
          </p:cNvSpPr>
          <p:nvPr>
            <p:ph type="subTitle" idx="1"/>
          </p:nvPr>
        </p:nvSpPr>
        <p:spPr>
          <a:xfrm>
            <a:off x="938500" y="1604194"/>
            <a:ext cx="2871600" cy="2629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hu-HU" b="1" dirty="0"/>
              <a:t>Saját projekt:</a:t>
            </a:r>
            <a:r>
              <a:rPr lang="hu-HU" dirty="0"/>
              <a:t> </a:t>
            </a:r>
          </a:p>
          <a:p>
            <a:pPr marL="0" lvl="0" indent="0"/>
            <a:r>
              <a:rPr lang="hu-HU" dirty="0"/>
              <a:t>Sikeresen implementáltuk a követelményeket, a külső tesztelés során feltárt hibákat maradék nélkül kijavítottuk.</a:t>
            </a:r>
            <a:br>
              <a:rPr lang="hu-HU" dirty="0"/>
            </a:br>
            <a:br>
              <a:rPr lang="hu-HU" dirty="0"/>
            </a:br>
            <a:r>
              <a:rPr lang="hu-HU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Ismert hibák: 0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90" name="Google Shape;2090;p62"/>
          <p:cNvSpPr txBox="1">
            <a:spLocks noGrp="1"/>
          </p:cNvSpPr>
          <p:nvPr>
            <p:ph type="body" idx="2"/>
          </p:nvPr>
        </p:nvSpPr>
        <p:spPr>
          <a:xfrm>
            <a:off x="4703374" y="909600"/>
            <a:ext cx="3881825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400"/>
              <a:buNone/>
            </a:pPr>
            <a:r>
              <a:rPr lang="hu-HU" sz="1600" b="1" dirty="0"/>
              <a:t>Parkolóautomata Tesztelés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dirty="0">
                <a:solidFill>
                  <a:schemeClr val="lt1"/>
                </a:solidFill>
              </a:rPr>
              <a:t>A specifikáció minősége alapvetően meghatározza a tesztelhetőséget.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dirty="0">
                <a:solidFill>
                  <a:schemeClr val="lt1"/>
                </a:solidFill>
              </a:rPr>
              <a:t>A statikus tesztelés (dokumentáció olvasása) rengeteg logikai hibát tárt fel még kódolás előtt.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dirty="0">
                <a:solidFill>
                  <a:schemeClr val="lt1"/>
                </a:solidFill>
              </a:rPr>
              <a:t>A feketedobozos teszteléssel sikerült </a:t>
            </a:r>
            <a:r>
              <a:rPr lang="hu-HU" dirty="0" err="1">
                <a:solidFill>
                  <a:schemeClr val="lt1"/>
                </a:solidFill>
              </a:rPr>
              <a:t>validálni</a:t>
            </a:r>
            <a:r>
              <a:rPr lang="hu-HU" dirty="0">
                <a:solidFill>
                  <a:schemeClr val="lt1"/>
                </a:solidFill>
              </a:rPr>
              <a:t> a felhasználói élményt.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dirty="0">
                <a:solidFill>
                  <a:schemeClr val="lt1"/>
                </a:solidFill>
              </a:rPr>
              <a:t>95%-os lefedettség a tesztelés során, nincs ismert hiba a szoftverben. 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endParaRPr b="1" dirty="0">
              <a:solidFill>
                <a:schemeClr val="lt1"/>
              </a:solidFill>
            </a:endParaRPr>
          </a:p>
        </p:txBody>
      </p:sp>
      <p:sp>
        <p:nvSpPr>
          <p:cNvPr id="2091" name="Google Shape;2091;p6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cap="all" dirty="0"/>
              <a:t>Összegzés és Tanulságok</a:t>
            </a:r>
            <a:endParaRPr cap="all" dirty="0"/>
          </a:p>
        </p:txBody>
      </p:sp>
      <p:cxnSp>
        <p:nvCxnSpPr>
          <p:cNvPr id="2092" name="Google Shape;2092;p6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>
            <a:spLocks noGrp="1"/>
          </p:cNvSpPr>
          <p:nvPr>
            <p:ph type="ctrTitle"/>
          </p:nvPr>
        </p:nvSpPr>
        <p:spPr>
          <a:xfrm>
            <a:off x="-33810" y="1534325"/>
            <a:ext cx="921162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sz="4000" dirty="0"/>
              <a:t>KÖSZÖNJÜK A FIGYELMET!</a:t>
            </a:r>
            <a:endParaRPr sz="4000" dirty="0"/>
          </a:p>
        </p:txBody>
      </p:sp>
      <p:sp>
        <p:nvSpPr>
          <p:cNvPr id="274" name="Google Shape;274;p4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Any</a:t>
            </a:r>
            <a:r>
              <a:rPr lang="hu-HU" dirty="0"/>
              <a:t> </a:t>
            </a:r>
            <a:r>
              <a:rPr lang="hu-HU" dirty="0" err="1"/>
              <a:t>questions</a:t>
            </a:r>
            <a:r>
              <a:rPr lang="hu-HU" dirty="0"/>
              <a:t>?</a:t>
            </a:r>
            <a:endParaRPr dirty="0"/>
          </a:p>
        </p:txBody>
      </p:sp>
      <p:cxnSp>
        <p:nvCxnSpPr>
          <p:cNvPr id="275" name="Google Shape;275;p49"/>
          <p:cNvCxnSpPr/>
          <p:nvPr/>
        </p:nvCxnSpPr>
        <p:spPr>
          <a:xfrm>
            <a:off x="3190500" y="23542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593</Words>
  <Application>Microsoft Office PowerPoint</Application>
  <PresentationFormat>Diavetítés a képernyőre (16:9 oldalarány)</PresentationFormat>
  <Paragraphs>99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Montserrat ExtraLight</vt:lpstr>
      <vt:lpstr>Montserrat ExtraBold</vt:lpstr>
      <vt:lpstr>Montserrat</vt:lpstr>
      <vt:lpstr>Futuristic Background by Slidesgo</vt:lpstr>
      <vt:lpstr>Szoftverfejlesztés-és tesztelés</vt:lpstr>
      <vt:lpstr>01</vt:lpstr>
      <vt:lpstr>FEJLESZTÉS</vt:lpstr>
      <vt:lpstr>CÉLUNK</vt:lpstr>
      <vt:lpstr>MINŐSÉGBIZTOSÍTÁS</vt:lpstr>
      <vt:lpstr>TESZTELÉS</vt:lpstr>
      <vt:lpstr>TESZTELÉSI STRATÉGIA</vt:lpstr>
      <vt:lpstr>Statikus tesztelés: A Specifikáció hibái</vt:lpstr>
      <vt:lpstr>Statikus tesztelés: Kritikus tervezési hiányosságok</vt:lpstr>
      <vt:lpstr>Dinamikus tesztelés: Végrehajtás</vt:lpstr>
      <vt:lpstr>Eredmények és Hibajegyek</vt:lpstr>
      <vt:lpstr>Összegzés és Tanulságok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Szoftvertesztelés</dc:title>
  <cp:lastModifiedBy>O365 felhasználó</cp:lastModifiedBy>
  <cp:revision>20</cp:revision>
  <dcterms:modified xsi:type="dcterms:W3CDTF">2026-01-10T16:48:45Z</dcterms:modified>
</cp:coreProperties>
</file>